
<file path=[Content_Types].xml><?xml version="1.0" encoding="utf-8"?>
<Types xmlns="http://schemas.openxmlformats.org/package/2006/content-types">
  <Default Extension="jpeg" ContentType="image/jpeg"/>
  <Default Extension="jp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9" r:id="rId4"/>
    <p:sldId id="262" r:id="rId5"/>
    <p:sldId id="258" r:id="rId6"/>
    <p:sldId id="263" r:id="rId7"/>
    <p:sldId id="260" r:id="rId8"/>
    <p:sldId id="2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9089A7-69AF-451D-8FCB-E75184A86317}" type="datetimeFigureOut">
              <a:rPr lang="en-US" smtClean="0"/>
              <a:t>9/15/2026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0B079B-43C6-4D68-835F-9069926DDADC}" type="slidenum">
              <a:rPr lang="en-US" smtClean="0"/>
              <a:t>‹#›</a:t>
            </a:fld>
            <a:endParaRPr lang="en-US"/>
          </a:p>
        </p:txBody>
      </p:sp>
    </p:spTree>
    <p:extLst>
      <p:ext uri="{BB962C8B-B14F-4D97-AF65-F5344CB8AC3E}">
        <p14:creationId xmlns:p14="http://schemas.microsoft.com/office/powerpoint/2010/main" val="1984859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0B079B-43C6-4D68-835F-9069926DDADC}" type="slidenum">
              <a:rPr lang="en-US" smtClean="0"/>
              <a:t>5</a:t>
            </a:fld>
            <a:endParaRPr lang="en-US"/>
          </a:p>
        </p:txBody>
      </p:sp>
    </p:spTree>
    <p:extLst>
      <p:ext uri="{BB962C8B-B14F-4D97-AF65-F5344CB8AC3E}">
        <p14:creationId xmlns:p14="http://schemas.microsoft.com/office/powerpoint/2010/main" val="32116992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B0045-89E5-8733-A606-EA0CCC7CF2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FC3E259-4B3B-6011-E21C-4FB825BD49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B340650-6ADE-CA4C-A217-5255A49FBEEA}"/>
              </a:ext>
            </a:extLst>
          </p:cNvPr>
          <p:cNvSpPr>
            <a:spLocks noGrp="1"/>
          </p:cNvSpPr>
          <p:nvPr>
            <p:ph type="dt" sz="half" idx="10"/>
          </p:nvPr>
        </p:nvSpPr>
        <p:spPr/>
        <p:txBody>
          <a:bodyPr/>
          <a:lstStyle/>
          <a:p>
            <a:fld id="{2A7805F4-3FF3-4E17-AA6B-77111DBE87E2}" type="datetimeFigureOut">
              <a:rPr lang="en-US" smtClean="0"/>
              <a:t>9/15/2026</a:t>
            </a:fld>
            <a:endParaRPr lang="en-US"/>
          </a:p>
        </p:txBody>
      </p:sp>
      <p:sp>
        <p:nvSpPr>
          <p:cNvPr id="5" name="Footer Placeholder 4">
            <a:extLst>
              <a:ext uri="{FF2B5EF4-FFF2-40B4-BE49-F238E27FC236}">
                <a16:creationId xmlns:a16="http://schemas.microsoft.com/office/drawing/2014/main" id="{C8B2A1CB-F55B-4088-B3B0-B70662A648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C93245-9E2F-F7CC-A05E-1F777E124C87}"/>
              </a:ext>
            </a:extLst>
          </p:cNvPr>
          <p:cNvSpPr>
            <a:spLocks noGrp="1"/>
          </p:cNvSpPr>
          <p:nvPr>
            <p:ph type="sldNum" sz="quarter" idx="12"/>
          </p:nvPr>
        </p:nvSpPr>
        <p:spPr/>
        <p:txBody>
          <a:bodyPr/>
          <a:lstStyle/>
          <a:p>
            <a:fld id="{7EF501E6-378C-466E-B2EA-57B29F914693}" type="slidenum">
              <a:rPr lang="en-US" smtClean="0"/>
              <a:t>‹#›</a:t>
            </a:fld>
            <a:endParaRPr lang="en-US"/>
          </a:p>
        </p:txBody>
      </p:sp>
    </p:spTree>
    <p:extLst>
      <p:ext uri="{BB962C8B-B14F-4D97-AF65-F5344CB8AC3E}">
        <p14:creationId xmlns:p14="http://schemas.microsoft.com/office/powerpoint/2010/main" val="803799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26F81-85C6-1EFB-F1AD-20C7737B3C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861CB7-AD56-3465-1FF8-19FF5DAC06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39BEF8-9FC2-6C8F-A3CC-E3521FF791D3}"/>
              </a:ext>
            </a:extLst>
          </p:cNvPr>
          <p:cNvSpPr>
            <a:spLocks noGrp="1"/>
          </p:cNvSpPr>
          <p:nvPr>
            <p:ph type="dt" sz="half" idx="10"/>
          </p:nvPr>
        </p:nvSpPr>
        <p:spPr/>
        <p:txBody>
          <a:bodyPr/>
          <a:lstStyle/>
          <a:p>
            <a:fld id="{2A7805F4-3FF3-4E17-AA6B-77111DBE87E2}" type="datetimeFigureOut">
              <a:rPr lang="en-US" smtClean="0"/>
              <a:t>9/15/2026</a:t>
            </a:fld>
            <a:endParaRPr lang="en-US"/>
          </a:p>
        </p:txBody>
      </p:sp>
      <p:sp>
        <p:nvSpPr>
          <p:cNvPr id="5" name="Footer Placeholder 4">
            <a:extLst>
              <a:ext uri="{FF2B5EF4-FFF2-40B4-BE49-F238E27FC236}">
                <a16:creationId xmlns:a16="http://schemas.microsoft.com/office/drawing/2014/main" id="{0D39C81D-1BF9-5D34-D468-4E607E1177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9CB289-90A6-F7BE-852B-554160F2E642}"/>
              </a:ext>
            </a:extLst>
          </p:cNvPr>
          <p:cNvSpPr>
            <a:spLocks noGrp="1"/>
          </p:cNvSpPr>
          <p:nvPr>
            <p:ph type="sldNum" sz="quarter" idx="12"/>
          </p:nvPr>
        </p:nvSpPr>
        <p:spPr/>
        <p:txBody>
          <a:bodyPr/>
          <a:lstStyle/>
          <a:p>
            <a:fld id="{7EF501E6-378C-466E-B2EA-57B29F914693}" type="slidenum">
              <a:rPr lang="en-US" smtClean="0"/>
              <a:t>‹#›</a:t>
            </a:fld>
            <a:endParaRPr lang="en-US"/>
          </a:p>
        </p:txBody>
      </p:sp>
    </p:spTree>
    <p:extLst>
      <p:ext uri="{BB962C8B-B14F-4D97-AF65-F5344CB8AC3E}">
        <p14:creationId xmlns:p14="http://schemas.microsoft.com/office/powerpoint/2010/main" val="25681398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6D296-D89A-3133-F348-ED870923AD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EA6EC00-720E-0587-7BA9-276C1E5D841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1C801D-8110-7DA9-D62C-5C0A56DAE0A3}"/>
              </a:ext>
            </a:extLst>
          </p:cNvPr>
          <p:cNvSpPr>
            <a:spLocks noGrp="1"/>
          </p:cNvSpPr>
          <p:nvPr>
            <p:ph type="dt" sz="half" idx="10"/>
          </p:nvPr>
        </p:nvSpPr>
        <p:spPr/>
        <p:txBody>
          <a:bodyPr/>
          <a:lstStyle/>
          <a:p>
            <a:fld id="{2A7805F4-3FF3-4E17-AA6B-77111DBE87E2}" type="datetimeFigureOut">
              <a:rPr lang="en-US" smtClean="0"/>
              <a:t>9/15/2026</a:t>
            </a:fld>
            <a:endParaRPr lang="en-US"/>
          </a:p>
        </p:txBody>
      </p:sp>
      <p:sp>
        <p:nvSpPr>
          <p:cNvPr id="5" name="Footer Placeholder 4">
            <a:extLst>
              <a:ext uri="{FF2B5EF4-FFF2-40B4-BE49-F238E27FC236}">
                <a16:creationId xmlns:a16="http://schemas.microsoft.com/office/drawing/2014/main" id="{95A3160A-0BB1-5E19-E49F-DC35A2B657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E5C2D-26F6-7F76-57FE-DF36827CBFF9}"/>
              </a:ext>
            </a:extLst>
          </p:cNvPr>
          <p:cNvSpPr>
            <a:spLocks noGrp="1"/>
          </p:cNvSpPr>
          <p:nvPr>
            <p:ph type="sldNum" sz="quarter" idx="12"/>
          </p:nvPr>
        </p:nvSpPr>
        <p:spPr/>
        <p:txBody>
          <a:bodyPr/>
          <a:lstStyle/>
          <a:p>
            <a:fld id="{7EF501E6-378C-466E-B2EA-57B29F914693}" type="slidenum">
              <a:rPr lang="en-US" smtClean="0"/>
              <a:t>‹#›</a:t>
            </a:fld>
            <a:endParaRPr lang="en-US"/>
          </a:p>
        </p:txBody>
      </p:sp>
    </p:spTree>
    <p:extLst>
      <p:ext uri="{BB962C8B-B14F-4D97-AF65-F5344CB8AC3E}">
        <p14:creationId xmlns:p14="http://schemas.microsoft.com/office/powerpoint/2010/main" val="2399277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B91E3-6178-1830-311F-B8E80D4D99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7E0D59-1BA3-0E0B-21DB-6B80544EA73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90260C7-804B-DB53-4D91-D59DAF4D958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3C936C0-9596-0A93-8B1A-BC3660D1A65A}"/>
              </a:ext>
            </a:extLst>
          </p:cNvPr>
          <p:cNvSpPr>
            <a:spLocks noGrp="1"/>
          </p:cNvSpPr>
          <p:nvPr>
            <p:ph type="dt" sz="half" idx="10"/>
          </p:nvPr>
        </p:nvSpPr>
        <p:spPr/>
        <p:txBody>
          <a:bodyPr/>
          <a:lstStyle/>
          <a:p>
            <a:fld id="{2A7805F4-3FF3-4E17-AA6B-77111DBE87E2}" type="datetimeFigureOut">
              <a:rPr lang="en-US" smtClean="0"/>
              <a:t>9/15/2026</a:t>
            </a:fld>
            <a:endParaRPr lang="en-US"/>
          </a:p>
        </p:txBody>
      </p:sp>
      <p:sp>
        <p:nvSpPr>
          <p:cNvPr id="6" name="Footer Placeholder 5">
            <a:extLst>
              <a:ext uri="{FF2B5EF4-FFF2-40B4-BE49-F238E27FC236}">
                <a16:creationId xmlns:a16="http://schemas.microsoft.com/office/drawing/2014/main" id="{9D7518FB-474B-BF5C-B32E-3FFFE7EE7B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E7ABCF-01DA-AF62-8BC2-CE1AF14383A9}"/>
              </a:ext>
            </a:extLst>
          </p:cNvPr>
          <p:cNvSpPr>
            <a:spLocks noGrp="1"/>
          </p:cNvSpPr>
          <p:nvPr>
            <p:ph type="sldNum" sz="quarter" idx="12"/>
          </p:nvPr>
        </p:nvSpPr>
        <p:spPr/>
        <p:txBody>
          <a:bodyPr/>
          <a:lstStyle/>
          <a:p>
            <a:fld id="{7EF501E6-378C-466E-B2EA-57B29F914693}" type="slidenum">
              <a:rPr lang="en-US" smtClean="0"/>
              <a:t>‹#›</a:t>
            </a:fld>
            <a:endParaRPr lang="en-US"/>
          </a:p>
        </p:txBody>
      </p:sp>
    </p:spTree>
    <p:extLst>
      <p:ext uri="{BB962C8B-B14F-4D97-AF65-F5344CB8AC3E}">
        <p14:creationId xmlns:p14="http://schemas.microsoft.com/office/powerpoint/2010/main" val="1790058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E480C-E77A-0636-F140-221A0C6210D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2D1A11-36A0-BA26-4EE5-ACC4F64246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5DBC8C-7403-BA24-77D6-DFBA87226D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F972F54-CCCB-BB34-D074-5A74B2700E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0D0844-85EC-F0FF-7905-EC3F3C267D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46702EC-DF4A-9229-FDEE-9AB7C248DDD2}"/>
              </a:ext>
            </a:extLst>
          </p:cNvPr>
          <p:cNvSpPr>
            <a:spLocks noGrp="1"/>
          </p:cNvSpPr>
          <p:nvPr>
            <p:ph type="dt" sz="half" idx="10"/>
          </p:nvPr>
        </p:nvSpPr>
        <p:spPr/>
        <p:txBody>
          <a:bodyPr/>
          <a:lstStyle/>
          <a:p>
            <a:fld id="{2A7805F4-3FF3-4E17-AA6B-77111DBE87E2}" type="datetimeFigureOut">
              <a:rPr lang="en-US" smtClean="0"/>
              <a:t>9/15/2026</a:t>
            </a:fld>
            <a:endParaRPr lang="en-US"/>
          </a:p>
        </p:txBody>
      </p:sp>
      <p:sp>
        <p:nvSpPr>
          <p:cNvPr id="8" name="Footer Placeholder 7">
            <a:extLst>
              <a:ext uri="{FF2B5EF4-FFF2-40B4-BE49-F238E27FC236}">
                <a16:creationId xmlns:a16="http://schemas.microsoft.com/office/drawing/2014/main" id="{1494FD0E-0C21-B222-2A98-D25E0B3FF95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D6DA8A-7BD2-A42D-6DB8-DA474361B86A}"/>
              </a:ext>
            </a:extLst>
          </p:cNvPr>
          <p:cNvSpPr>
            <a:spLocks noGrp="1"/>
          </p:cNvSpPr>
          <p:nvPr>
            <p:ph type="sldNum" sz="quarter" idx="12"/>
          </p:nvPr>
        </p:nvSpPr>
        <p:spPr/>
        <p:txBody>
          <a:bodyPr/>
          <a:lstStyle/>
          <a:p>
            <a:fld id="{7EF501E6-378C-466E-B2EA-57B29F914693}" type="slidenum">
              <a:rPr lang="en-US" smtClean="0"/>
              <a:t>‹#›</a:t>
            </a:fld>
            <a:endParaRPr lang="en-US"/>
          </a:p>
        </p:txBody>
      </p:sp>
    </p:spTree>
    <p:extLst>
      <p:ext uri="{BB962C8B-B14F-4D97-AF65-F5344CB8AC3E}">
        <p14:creationId xmlns:p14="http://schemas.microsoft.com/office/powerpoint/2010/main" val="1748540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5E17A-1979-B822-2190-5239323E855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2102B67-9AF0-D124-8920-2E41D7FCAD1D}"/>
              </a:ext>
            </a:extLst>
          </p:cNvPr>
          <p:cNvSpPr>
            <a:spLocks noGrp="1"/>
          </p:cNvSpPr>
          <p:nvPr>
            <p:ph type="dt" sz="half" idx="10"/>
          </p:nvPr>
        </p:nvSpPr>
        <p:spPr/>
        <p:txBody>
          <a:bodyPr/>
          <a:lstStyle/>
          <a:p>
            <a:fld id="{2A7805F4-3FF3-4E17-AA6B-77111DBE87E2}" type="datetimeFigureOut">
              <a:rPr lang="en-US" smtClean="0"/>
              <a:t>9/15/2026</a:t>
            </a:fld>
            <a:endParaRPr lang="en-US"/>
          </a:p>
        </p:txBody>
      </p:sp>
      <p:sp>
        <p:nvSpPr>
          <p:cNvPr id="4" name="Footer Placeholder 3">
            <a:extLst>
              <a:ext uri="{FF2B5EF4-FFF2-40B4-BE49-F238E27FC236}">
                <a16:creationId xmlns:a16="http://schemas.microsoft.com/office/drawing/2014/main" id="{115053B6-9595-137D-44F9-B95BE7E2C6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17DDA27-5A69-47F6-4DD6-5E200FC26171}"/>
              </a:ext>
            </a:extLst>
          </p:cNvPr>
          <p:cNvSpPr>
            <a:spLocks noGrp="1"/>
          </p:cNvSpPr>
          <p:nvPr>
            <p:ph type="sldNum" sz="quarter" idx="12"/>
          </p:nvPr>
        </p:nvSpPr>
        <p:spPr/>
        <p:txBody>
          <a:bodyPr/>
          <a:lstStyle/>
          <a:p>
            <a:fld id="{7EF501E6-378C-466E-B2EA-57B29F914693}" type="slidenum">
              <a:rPr lang="en-US" smtClean="0"/>
              <a:t>‹#›</a:t>
            </a:fld>
            <a:endParaRPr lang="en-US"/>
          </a:p>
        </p:txBody>
      </p:sp>
    </p:spTree>
    <p:extLst>
      <p:ext uri="{BB962C8B-B14F-4D97-AF65-F5344CB8AC3E}">
        <p14:creationId xmlns:p14="http://schemas.microsoft.com/office/powerpoint/2010/main" val="21993025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31D1855-E9F7-369F-6C84-6C2738EC35B8}"/>
              </a:ext>
            </a:extLst>
          </p:cNvPr>
          <p:cNvSpPr>
            <a:spLocks noGrp="1"/>
          </p:cNvSpPr>
          <p:nvPr>
            <p:ph type="dt" sz="half" idx="10"/>
          </p:nvPr>
        </p:nvSpPr>
        <p:spPr/>
        <p:txBody>
          <a:bodyPr/>
          <a:lstStyle/>
          <a:p>
            <a:fld id="{2A7805F4-3FF3-4E17-AA6B-77111DBE87E2}" type="datetimeFigureOut">
              <a:rPr lang="en-US" smtClean="0"/>
              <a:t>9/15/2026</a:t>
            </a:fld>
            <a:endParaRPr lang="en-US"/>
          </a:p>
        </p:txBody>
      </p:sp>
      <p:sp>
        <p:nvSpPr>
          <p:cNvPr id="3" name="Footer Placeholder 2">
            <a:extLst>
              <a:ext uri="{FF2B5EF4-FFF2-40B4-BE49-F238E27FC236}">
                <a16:creationId xmlns:a16="http://schemas.microsoft.com/office/drawing/2014/main" id="{66DDDBB2-2F92-8A3D-04CA-007F5587C0C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A8ACE93-8D01-B5A0-B010-5C8651A1E74E}"/>
              </a:ext>
            </a:extLst>
          </p:cNvPr>
          <p:cNvSpPr>
            <a:spLocks noGrp="1"/>
          </p:cNvSpPr>
          <p:nvPr>
            <p:ph type="sldNum" sz="quarter" idx="12"/>
          </p:nvPr>
        </p:nvSpPr>
        <p:spPr/>
        <p:txBody>
          <a:bodyPr/>
          <a:lstStyle/>
          <a:p>
            <a:fld id="{7EF501E6-378C-466E-B2EA-57B29F914693}" type="slidenum">
              <a:rPr lang="en-US" smtClean="0"/>
              <a:t>‹#›</a:t>
            </a:fld>
            <a:endParaRPr lang="en-US"/>
          </a:p>
        </p:txBody>
      </p:sp>
    </p:spTree>
    <p:extLst>
      <p:ext uri="{BB962C8B-B14F-4D97-AF65-F5344CB8AC3E}">
        <p14:creationId xmlns:p14="http://schemas.microsoft.com/office/powerpoint/2010/main" val="1920335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9F4AD-AB32-68C5-2D00-4B007D1FF6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3D3606A-ADBC-10A3-9856-FB4D3A2FEB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28B8817-2FE4-67FA-B401-9C83A6BC4B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6BBFAB-22A1-3AA6-175B-AF748957D9F3}"/>
              </a:ext>
            </a:extLst>
          </p:cNvPr>
          <p:cNvSpPr>
            <a:spLocks noGrp="1"/>
          </p:cNvSpPr>
          <p:nvPr>
            <p:ph type="dt" sz="half" idx="10"/>
          </p:nvPr>
        </p:nvSpPr>
        <p:spPr/>
        <p:txBody>
          <a:bodyPr/>
          <a:lstStyle/>
          <a:p>
            <a:fld id="{2A7805F4-3FF3-4E17-AA6B-77111DBE87E2}" type="datetimeFigureOut">
              <a:rPr lang="en-US" smtClean="0"/>
              <a:t>9/15/2026</a:t>
            </a:fld>
            <a:endParaRPr lang="en-US"/>
          </a:p>
        </p:txBody>
      </p:sp>
      <p:sp>
        <p:nvSpPr>
          <p:cNvPr id="6" name="Footer Placeholder 5">
            <a:extLst>
              <a:ext uri="{FF2B5EF4-FFF2-40B4-BE49-F238E27FC236}">
                <a16:creationId xmlns:a16="http://schemas.microsoft.com/office/drawing/2014/main" id="{D4180630-7FA5-0E3E-F9E6-A7CDB81EFC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0E2D3A-BC23-AEDC-6B21-DFF8B56B225F}"/>
              </a:ext>
            </a:extLst>
          </p:cNvPr>
          <p:cNvSpPr>
            <a:spLocks noGrp="1"/>
          </p:cNvSpPr>
          <p:nvPr>
            <p:ph type="sldNum" sz="quarter" idx="12"/>
          </p:nvPr>
        </p:nvSpPr>
        <p:spPr/>
        <p:txBody>
          <a:bodyPr/>
          <a:lstStyle/>
          <a:p>
            <a:fld id="{7EF501E6-378C-466E-B2EA-57B29F914693}" type="slidenum">
              <a:rPr lang="en-US" smtClean="0"/>
              <a:t>‹#›</a:t>
            </a:fld>
            <a:endParaRPr lang="en-US"/>
          </a:p>
        </p:txBody>
      </p:sp>
    </p:spTree>
    <p:extLst>
      <p:ext uri="{BB962C8B-B14F-4D97-AF65-F5344CB8AC3E}">
        <p14:creationId xmlns:p14="http://schemas.microsoft.com/office/powerpoint/2010/main" val="704749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5B60F-53E2-C495-B242-4172168114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9EDDE20-B5A5-A8CE-2886-F2C2AEACF9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BDCCB81-4096-C0E7-3AFD-948D83F0AD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5C6C5C-4049-32C5-04CA-D0C269D9E5B1}"/>
              </a:ext>
            </a:extLst>
          </p:cNvPr>
          <p:cNvSpPr>
            <a:spLocks noGrp="1"/>
          </p:cNvSpPr>
          <p:nvPr>
            <p:ph type="dt" sz="half" idx="10"/>
          </p:nvPr>
        </p:nvSpPr>
        <p:spPr/>
        <p:txBody>
          <a:bodyPr/>
          <a:lstStyle/>
          <a:p>
            <a:fld id="{2A7805F4-3FF3-4E17-AA6B-77111DBE87E2}" type="datetimeFigureOut">
              <a:rPr lang="en-US" smtClean="0"/>
              <a:t>9/15/2026</a:t>
            </a:fld>
            <a:endParaRPr lang="en-US"/>
          </a:p>
        </p:txBody>
      </p:sp>
      <p:sp>
        <p:nvSpPr>
          <p:cNvPr id="6" name="Footer Placeholder 5">
            <a:extLst>
              <a:ext uri="{FF2B5EF4-FFF2-40B4-BE49-F238E27FC236}">
                <a16:creationId xmlns:a16="http://schemas.microsoft.com/office/drawing/2014/main" id="{D89C01F2-2B22-B374-992F-D64011F5E5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0AD262-3CCC-DDD9-39B6-C2BD06BB2E3A}"/>
              </a:ext>
            </a:extLst>
          </p:cNvPr>
          <p:cNvSpPr>
            <a:spLocks noGrp="1"/>
          </p:cNvSpPr>
          <p:nvPr>
            <p:ph type="sldNum" sz="quarter" idx="12"/>
          </p:nvPr>
        </p:nvSpPr>
        <p:spPr/>
        <p:txBody>
          <a:bodyPr/>
          <a:lstStyle/>
          <a:p>
            <a:fld id="{7EF501E6-378C-466E-B2EA-57B29F914693}" type="slidenum">
              <a:rPr lang="en-US" smtClean="0"/>
              <a:t>‹#›</a:t>
            </a:fld>
            <a:endParaRPr lang="en-US"/>
          </a:p>
        </p:txBody>
      </p:sp>
    </p:spTree>
    <p:extLst>
      <p:ext uri="{BB962C8B-B14F-4D97-AF65-F5344CB8AC3E}">
        <p14:creationId xmlns:p14="http://schemas.microsoft.com/office/powerpoint/2010/main" val="2315389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36BE9-AFD6-F3E8-32C4-4D125811AF6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EBE3407-6642-9694-AE12-56499C0F26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A3D52C-A850-89A3-84D9-B69E6FD1196D}"/>
              </a:ext>
            </a:extLst>
          </p:cNvPr>
          <p:cNvSpPr>
            <a:spLocks noGrp="1"/>
          </p:cNvSpPr>
          <p:nvPr>
            <p:ph type="dt" sz="half" idx="10"/>
          </p:nvPr>
        </p:nvSpPr>
        <p:spPr/>
        <p:txBody>
          <a:bodyPr/>
          <a:lstStyle/>
          <a:p>
            <a:fld id="{2A7805F4-3FF3-4E17-AA6B-77111DBE87E2}" type="datetimeFigureOut">
              <a:rPr lang="en-US" smtClean="0"/>
              <a:t>9/15/2026</a:t>
            </a:fld>
            <a:endParaRPr lang="en-US"/>
          </a:p>
        </p:txBody>
      </p:sp>
      <p:sp>
        <p:nvSpPr>
          <p:cNvPr id="5" name="Footer Placeholder 4">
            <a:extLst>
              <a:ext uri="{FF2B5EF4-FFF2-40B4-BE49-F238E27FC236}">
                <a16:creationId xmlns:a16="http://schemas.microsoft.com/office/drawing/2014/main" id="{B65ABD36-DC87-B83D-5658-BCD512F03B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8C28BF-CB6F-BB97-4862-33D6BA6E5D09}"/>
              </a:ext>
            </a:extLst>
          </p:cNvPr>
          <p:cNvSpPr>
            <a:spLocks noGrp="1"/>
          </p:cNvSpPr>
          <p:nvPr>
            <p:ph type="sldNum" sz="quarter" idx="12"/>
          </p:nvPr>
        </p:nvSpPr>
        <p:spPr/>
        <p:txBody>
          <a:bodyPr/>
          <a:lstStyle/>
          <a:p>
            <a:fld id="{7EF501E6-378C-466E-B2EA-57B29F914693}" type="slidenum">
              <a:rPr lang="en-US" smtClean="0"/>
              <a:t>‹#›</a:t>
            </a:fld>
            <a:endParaRPr lang="en-US"/>
          </a:p>
        </p:txBody>
      </p:sp>
    </p:spTree>
    <p:extLst>
      <p:ext uri="{BB962C8B-B14F-4D97-AF65-F5344CB8AC3E}">
        <p14:creationId xmlns:p14="http://schemas.microsoft.com/office/powerpoint/2010/main" val="2752346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51D20E-94F5-273C-9E95-18F471CEAF9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F238F1-8297-74B9-CA4A-4340E99550E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84E1A2-4F2B-39DC-5D08-F628F53AE9A1}"/>
              </a:ext>
            </a:extLst>
          </p:cNvPr>
          <p:cNvSpPr>
            <a:spLocks noGrp="1"/>
          </p:cNvSpPr>
          <p:nvPr>
            <p:ph type="dt" sz="half" idx="10"/>
          </p:nvPr>
        </p:nvSpPr>
        <p:spPr/>
        <p:txBody>
          <a:bodyPr/>
          <a:lstStyle/>
          <a:p>
            <a:fld id="{2A7805F4-3FF3-4E17-AA6B-77111DBE87E2}" type="datetimeFigureOut">
              <a:rPr lang="en-US" smtClean="0"/>
              <a:t>9/15/2026</a:t>
            </a:fld>
            <a:endParaRPr lang="en-US"/>
          </a:p>
        </p:txBody>
      </p:sp>
      <p:sp>
        <p:nvSpPr>
          <p:cNvPr id="5" name="Footer Placeholder 4">
            <a:extLst>
              <a:ext uri="{FF2B5EF4-FFF2-40B4-BE49-F238E27FC236}">
                <a16:creationId xmlns:a16="http://schemas.microsoft.com/office/drawing/2014/main" id="{04C693C0-4CD0-BD59-F13C-885318026E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D64C5D-218D-F96A-EBF8-513B4FE03390}"/>
              </a:ext>
            </a:extLst>
          </p:cNvPr>
          <p:cNvSpPr>
            <a:spLocks noGrp="1"/>
          </p:cNvSpPr>
          <p:nvPr>
            <p:ph type="sldNum" sz="quarter" idx="12"/>
          </p:nvPr>
        </p:nvSpPr>
        <p:spPr/>
        <p:txBody>
          <a:bodyPr/>
          <a:lstStyle/>
          <a:p>
            <a:fld id="{7EF501E6-378C-466E-B2EA-57B29F914693}" type="slidenum">
              <a:rPr lang="en-US" smtClean="0"/>
              <a:t>‹#›</a:t>
            </a:fld>
            <a:endParaRPr lang="en-US"/>
          </a:p>
        </p:txBody>
      </p:sp>
    </p:spTree>
    <p:extLst>
      <p:ext uri="{BB962C8B-B14F-4D97-AF65-F5344CB8AC3E}">
        <p14:creationId xmlns:p14="http://schemas.microsoft.com/office/powerpoint/2010/main" val="36027897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75F044-9EB0-13FA-CF6E-B56BC3FC93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A26C846-FF4C-D71C-3415-D32EC723B0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EFDB12-4F0E-E217-209B-DFD603FC47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7805F4-3FF3-4E17-AA6B-77111DBE87E2}" type="datetimeFigureOut">
              <a:rPr lang="en-US" smtClean="0"/>
              <a:t>9/15/2026</a:t>
            </a:fld>
            <a:endParaRPr lang="en-US"/>
          </a:p>
        </p:txBody>
      </p:sp>
      <p:sp>
        <p:nvSpPr>
          <p:cNvPr id="5" name="Footer Placeholder 4">
            <a:extLst>
              <a:ext uri="{FF2B5EF4-FFF2-40B4-BE49-F238E27FC236}">
                <a16:creationId xmlns:a16="http://schemas.microsoft.com/office/drawing/2014/main" id="{43342D62-BF13-C643-A5C3-09DCC584D7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09C8D28-21D0-4383-DF1D-9F06F0FBF4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F501E6-378C-466E-B2EA-57B29F914693}" type="slidenum">
              <a:rPr lang="en-US" smtClean="0"/>
              <a:t>‹#›</a:t>
            </a:fld>
            <a:endParaRPr lang="en-US"/>
          </a:p>
        </p:txBody>
      </p:sp>
    </p:spTree>
    <p:extLst>
      <p:ext uri="{BB962C8B-B14F-4D97-AF65-F5344CB8AC3E}">
        <p14:creationId xmlns:p14="http://schemas.microsoft.com/office/powerpoint/2010/main" val="28413692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hyperlink" Target="https://doi.org/10.18311/jbt/2024/44468?utm_source=chatgpt.com" TargetMode="External"/><Relationship Id="rId3" Type="http://schemas.openxmlformats.org/officeDocument/2006/relationships/image" Target="../media/image1.jpg"/><Relationship Id="rId7" Type="http://schemas.openxmlformats.org/officeDocument/2006/relationships/hyperlink" Target="https://doi.org/10.1007/s10257-023-00640-4?utm_source=chatgpt.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doi.org/10.1155/2022/9930613?utm_source=chatgpt.com" TargetMode="External"/><Relationship Id="rId5" Type="http://schemas.openxmlformats.org/officeDocument/2006/relationships/hyperlink" Target="https://ieeexplore.ieee.org/document/9827636?utm_source=chatgpt.com" TargetMode="External"/><Relationship Id="rId4" Type="http://schemas.openxmlformats.org/officeDocument/2006/relationships/hyperlink" Target="https://onlinelibrary.wiley.com/doi/10.1155/2021/9982484"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7797096-E1D2-811A-036D-88AD049A40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649" y="111154"/>
            <a:ext cx="2499986" cy="1253047"/>
          </a:xfrm>
          <a:prstGeom prst="rect">
            <a:avLst/>
          </a:prstGeom>
          <a:noFill/>
          <a:ln>
            <a:noFill/>
          </a:ln>
        </p:spPr>
      </p:pic>
      <p:sp>
        <p:nvSpPr>
          <p:cNvPr id="9" name="TextBox 8">
            <a:extLst>
              <a:ext uri="{FF2B5EF4-FFF2-40B4-BE49-F238E27FC236}">
                <a16:creationId xmlns:a16="http://schemas.microsoft.com/office/drawing/2014/main" id="{173DC33D-0100-7B39-C2D7-44ACDB5F02B0}"/>
              </a:ext>
            </a:extLst>
          </p:cNvPr>
          <p:cNvSpPr txBox="1"/>
          <p:nvPr/>
        </p:nvSpPr>
        <p:spPr>
          <a:xfrm>
            <a:off x="1052052" y="1710813"/>
            <a:ext cx="9517625" cy="4493538"/>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RetailIQ – Full-Cycle E-Commerce Customer &amp; Sales Analytics</a:t>
            </a:r>
          </a:p>
          <a:p>
            <a:pPr algn="ctr"/>
            <a:endParaRPr lang="en-US" sz="3200" b="1" dirty="0">
              <a:latin typeface="Times New Roman" panose="02020603050405020304" pitchFamily="18" charset="0"/>
              <a:cs typeface="Times New Roman" panose="02020603050405020304" pitchFamily="18" charset="0"/>
            </a:endParaRPr>
          </a:p>
          <a:p>
            <a:pPr algn="ctr"/>
            <a:r>
              <a:rPr lang="en-US" sz="2400" b="1" dirty="0">
                <a:solidFill>
                  <a:srgbClr val="FF0000"/>
                </a:solidFill>
                <a:latin typeface="Times New Roman" panose="02020603050405020304" pitchFamily="18" charset="0"/>
                <a:cs typeface="Times New Roman" panose="02020603050405020304" pitchFamily="18" charset="0"/>
              </a:rPr>
              <a:t>Under the guidance</a:t>
            </a:r>
          </a:p>
          <a:p>
            <a:pPr algn="ctr"/>
            <a:r>
              <a:rPr lang="en-US" sz="2400" b="1" dirty="0">
                <a:solidFill>
                  <a:srgbClr val="FF0000"/>
                </a:solidFill>
                <a:latin typeface="Times New Roman" panose="02020603050405020304" pitchFamily="18" charset="0"/>
                <a:cs typeface="Times New Roman" panose="02020603050405020304" pitchFamily="18" charset="0"/>
              </a:rPr>
              <a:t>Of</a:t>
            </a:r>
          </a:p>
          <a:p>
            <a:pPr algn="ctr"/>
            <a:r>
              <a:rPr lang="en-US" sz="2400" b="1" dirty="0">
                <a:latin typeface="Times New Roman" panose="02020603050405020304" pitchFamily="18" charset="0"/>
                <a:cs typeface="Times New Roman" panose="02020603050405020304" pitchFamily="18" charset="0"/>
              </a:rPr>
              <a:t>Dr N Sunanda</a:t>
            </a:r>
          </a:p>
          <a:p>
            <a:pPr algn="just"/>
            <a:r>
              <a:rPr lang="en-US" sz="2000" b="1" dirty="0">
                <a:latin typeface="Times New Roman" panose="02020603050405020304" pitchFamily="18" charset="0"/>
                <a:cs typeface="Times New Roman" panose="02020603050405020304" pitchFamily="18" charset="0"/>
              </a:rPr>
              <a:t>Batch No: 02</a:t>
            </a:r>
          </a:p>
          <a:p>
            <a:pPr algn="just"/>
            <a:r>
              <a:rPr lang="en-US" sz="2000" b="1" dirty="0">
                <a:latin typeface="Times New Roman" panose="02020603050405020304" pitchFamily="18" charset="0"/>
                <a:cs typeface="Times New Roman" panose="02020603050405020304" pitchFamily="18" charset="0"/>
              </a:rPr>
              <a:t>Team Members</a:t>
            </a:r>
          </a:p>
          <a:p>
            <a:pPr algn="just"/>
            <a:r>
              <a:rPr lang="en-US" sz="2000" dirty="0">
                <a:latin typeface="Times New Roman" panose="02020603050405020304" pitchFamily="18" charset="0"/>
                <a:cs typeface="Times New Roman" panose="02020603050405020304" pitchFamily="18" charset="0"/>
              </a:rPr>
              <a:t>2420030067 – Lakshman Angara</a:t>
            </a:r>
          </a:p>
          <a:p>
            <a:pPr algn="just"/>
            <a:r>
              <a:rPr lang="en-US" sz="2000" dirty="0">
                <a:latin typeface="Times New Roman" panose="02020603050405020304" pitchFamily="18" charset="0"/>
                <a:cs typeface="Times New Roman" panose="02020603050405020304" pitchFamily="18" charset="0"/>
              </a:rPr>
              <a:t>2420030185 – Ivaturi Vennela</a:t>
            </a:r>
          </a:p>
          <a:p>
            <a:pPr algn="just"/>
            <a:r>
              <a:rPr lang="en-US" sz="2000" dirty="0">
                <a:latin typeface="Times New Roman" panose="02020603050405020304" pitchFamily="18" charset="0"/>
                <a:cs typeface="Times New Roman" panose="02020603050405020304" pitchFamily="18" charset="0"/>
              </a:rPr>
              <a:t>2420030630 – Vishnu Priya Kodali</a:t>
            </a:r>
          </a:p>
          <a:p>
            <a:endParaRPr lang="en-US" dirty="0"/>
          </a:p>
        </p:txBody>
      </p:sp>
    </p:spTree>
    <p:extLst>
      <p:ext uri="{BB962C8B-B14F-4D97-AF65-F5344CB8AC3E}">
        <p14:creationId xmlns:p14="http://schemas.microsoft.com/office/powerpoint/2010/main" val="22256992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4B26B-8EFC-2F61-DC53-294C0F990CD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1FDFEF5-0B4D-2A2E-F601-563222CCDB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649" y="111154"/>
            <a:ext cx="2499986" cy="1253047"/>
          </a:xfrm>
          <a:prstGeom prst="rect">
            <a:avLst/>
          </a:prstGeom>
          <a:noFill/>
          <a:ln>
            <a:noFill/>
          </a:ln>
        </p:spPr>
      </p:pic>
      <p:sp>
        <p:nvSpPr>
          <p:cNvPr id="4" name="TextBox 3">
            <a:extLst>
              <a:ext uri="{FF2B5EF4-FFF2-40B4-BE49-F238E27FC236}">
                <a16:creationId xmlns:a16="http://schemas.microsoft.com/office/drawing/2014/main" id="{6E7CF0E7-DFAE-6077-7B8D-0C3D3A06D50E}"/>
              </a:ext>
            </a:extLst>
          </p:cNvPr>
          <p:cNvSpPr txBox="1"/>
          <p:nvPr/>
        </p:nvSpPr>
        <p:spPr>
          <a:xfrm>
            <a:off x="884903" y="2064774"/>
            <a:ext cx="10186220" cy="2806987"/>
          </a:xfrm>
          <a:prstGeom prst="rect">
            <a:avLst/>
          </a:prstGeom>
          <a:noFill/>
        </p:spPr>
        <p:txBody>
          <a:bodyPr wrap="square" rtlCol="0">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E-commerce businesses generate large volumes of customer and sales data, making it difficult to understand purchasing patterns, customer behavior, product performance, and sales trends. Existing approaches often analyze these aspects separately, limiting comprehensive insights and data-driven decision-making. Therefore, RetailIQ proposes an integrated Data Science approach to analyze e-commerce data, segment customers using machine learning, and provide actionable insights through an interactive platform.</a:t>
            </a:r>
          </a:p>
        </p:txBody>
      </p:sp>
      <p:sp>
        <p:nvSpPr>
          <p:cNvPr id="6" name="TextBox 5">
            <a:extLst>
              <a:ext uri="{FF2B5EF4-FFF2-40B4-BE49-F238E27FC236}">
                <a16:creationId xmlns:a16="http://schemas.microsoft.com/office/drawing/2014/main" id="{196C3AF1-970B-D7A9-1FCB-AA389037FEED}"/>
              </a:ext>
            </a:extLst>
          </p:cNvPr>
          <p:cNvSpPr txBox="1"/>
          <p:nvPr/>
        </p:nvSpPr>
        <p:spPr>
          <a:xfrm>
            <a:off x="2614635" y="1278194"/>
            <a:ext cx="6587613"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Problem Statement</a:t>
            </a:r>
          </a:p>
        </p:txBody>
      </p:sp>
    </p:spTree>
    <p:extLst>
      <p:ext uri="{BB962C8B-B14F-4D97-AF65-F5344CB8AC3E}">
        <p14:creationId xmlns:p14="http://schemas.microsoft.com/office/powerpoint/2010/main" val="804456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7F1FF-CEE7-9059-5CC8-1221D198397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02A2C50-FBA2-A3E2-89F7-FF08DE5081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649" y="111154"/>
            <a:ext cx="2499986" cy="1253047"/>
          </a:xfrm>
          <a:prstGeom prst="rect">
            <a:avLst/>
          </a:prstGeom>
          <a:noFill/>
          <a:ln>
            <a:noFill/>
          </a:ln>
        </p:spPr>
      </p:pic>
      <p:sp>
        <p:nvSpPr>
          <p:cNvPr id="4" name="TextBox 3">
            <a:extLst>
              <a:ext uri="{FF2B5EF4-FFF2-40B4-BE49-F238E27FC236}">
                <a16:creationId xmlns:a16="http://schemas.microsoft.com/office/drawing/2014/main" id="{36FEAA42-C59E-F252-F46F-7F369FD03799}"/>
              </a:ext>
            </a:extLst>
          </p:cNvPr>
          <p:cNvSpPr txBox="1"/>
          <p:nvPr/>
        </p:nvSpPr>
        <p:spPr>
          <a:xfrm>
            <a:off x="889818" y="1466677"/>
            <a:ext cx="10412362" cy="4653646"/>
          </a:xfrm>
          <a:prstGeom prst="rect">
            <a:avLst/>
          </a:prstGeom>
          <a:noFill/>
        </p:spPr>
        <p:txBody>
          <a:bodyPr wrap="square" rtlCol="0">
            <a:spAutoFit/>
          </a:bodyPr>
          <a:lstStyle/>
          <a:p>
            <a:pPr marL="342900" lvl="0" indent="-34290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To preprocess </a:t>
            </a:r>
            <a:r>
              <a:rPr lang="en-US" dirty="0">
                <a:latin typeface="Times New Roman" panose="02020603050405020304" pitchFamily="18" charset="0"/>
                <a:cs typeface="Times New Roman" panose="02020603050405020304" pitchFamily="18" charset="0"/>
              </a:rPr>
              <a:t>e-commerce customer and purchase data by handling missing values, duplicates, inconsistencies, and outliers. </a:t>
            </a:r>
          </a:p>
          <a:p>
            <a:pPr marL="342900" lvl="0" indent="-34290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To analyze </a:t>
            </a:r>
            <a:r>
              <a:rPr lang="en-US" dirty="0">
                <a:latin typeface="Times New Roman" panose="02020603050405020304" pitchFamily="18" charset="0"/>
                <a:cs typeface="Times New Roman" panose="02020603050405020304" pitchFamily="18" charset="0"/>
              </a:rPr>
              <a:t>sales, product performance, and customer purchasing behavior to identify meaningful patterns and trends. </a:t>
            </a:r>
          </a:p>
          <a:p>
            <a:pPr marL="342900" lvl="0" indent="-34290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To engineer </a:t>
            </a:r>
            <a:r>
              <a:rPr lang="en-US" dirty="0">
                <a:latin typeface="Times New Roman" panose="02020603050405020304" pitchFamily="18" charset="0"/>
                <a:cs typeface="Times New Roman" panose="02020603050405020304" pitchFamily="18" charset="0"/>
              </a:rPr>
              <a:t>relevant customer-level features to represent purchasing behavior for further analysis. </a:t>
            </a:r>
          </a:p>
          <a:p>
            <a:pPr marL="342900" lvl="0" indent="-34290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To apply </a:t>
            </a:r>
            <a:r>
              <a:rPr lang="en-US" dirty="0">
                <a:latin typeface="Times New Roman" panose="02020603050405020304" pitchFamily="18" charset="0"/>
                <a:cs typeface="Times New Roman" panose="02020603050405020304" pitchFamily="18" charset="0"/>
              </a:rPr>
              <a:t>K-Means clustering to segment customers based on similarities in their purchasing characteristics. </a:t>
            </a:r>
          </a:p>
          <a:p>
            <a:pPr marL="342900" lvl="0" indent="-34290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To evaluate </a:t>
            </a:r>
            <a:r>
              <a:rPr lang="en-US" dirty="0">
                <a:latin typeface="Times New Roman" panose="02020603050405020304" pitchFamily="18" charset="0"/>
                <a:cs typeface="Times New Roman" panose="02020603050405020304" pitchFamily="18" charset="0"/>
              </a:rPr>
              <a:t>and interpret customer segments using appropriate clustering evaluation metrics and behavioral characteristics. </a:t>
            </a:r>
          </a:p>
          <a:p>
            <a:pPr marL="342900" lvl="0" indent="-34290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To develop </a:t>
            </a:r>
            <a:r>
              <a:rPr lang="en-US" dirty="0">
                <a:latin typeface="Times New Roman" panose="02020603050405020304" pitchFamily="18" charset="0"/>
                <a:cs typeface="Times New Roman" panose="02020603050405020304" pitchFamily="18" charset="0"/>
              </a:rPr>
              <a:t>an interactive analytics dashboard for visualizing sales performance, product insights, customer behavior, and customer segments.</a:t>
            </a: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4577CCD-9F5B-7D7B-9F4B-135AD2F09B2B}"/>
              </a:ext>
            </a:extLst>
          </p:cNvPr>
          <p:cNvSpPr txBox="1"/>
          <p:nvPr/>
        </p:nvSpPr>
        <p:spPr>
          <a:xfrm>
            <a:off x="2802193" y="737677"/>
            <a:ext cx="6587613"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Objectives</a:t>
            </a:r>
          </a:p>
        </p:txBody>
      </p:sp>
    </p:spTree>
    <p:extLst>
      <p:ext uri="{BB962C8B-B14F-4D97-AF65-F5344CB8AC3E}">
        <p14:creationId xmlns:p14="http://schemas.microsoft.com/office/powerpoint/2010/main" val="4176968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FB6E5-E3A5-25CE-85C5-76006A198C9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42C4ED0-58A8-BD4E-E694-35F51DDF21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649" y="111154"/>
            <a:ext cx="2107441" cy="1056295"/>
          </a:xfrm>
          <a:prstGeom prst="rect">
            <a:avLst/>
          </a:prstGeom>
          <a:noFill/>
          <a:ln>
            <a:noFill/>
          </a:ln>
        </p:spPr>
      </p:pic>
      <p:sp>
        <p:nvSpPr>
          <p:cNvPr id="2" name="TextBox 1">
            <a:extLst>
              <a:ext uri="{FF2B5EF4-FFF2-40B4-BE49-F238E27FC236}">
                <a16:creationId xmlns:a16="http://schemas.microsoft.com/office/drawing/2014/main" id="{3E7AFE3F-BA53-E117-7CB4-04FAD5938BBF}"/>
              </a:ext>
            </a:extLst>
          </p:cNvPr>
          <p:cNvSpPr txBox="1"/>
          <p:nvPr/>
        </p:nvSpPr>
        <p:spPr>
          <a:xfrm>
            <a:off x="2320412" y="445289"/>
            <a:ext cx="6587613"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Methodology</a:t>
            </a:r>
          </a:p>
        </p:txBody>
      </p:sp>
      <p:sp>
        <p:nvSpPr>
          <p:cNvPr id="8" name="TextBox 7">
            <a:extLst>
              <a:ext uri="{FF2B5EF4-FFF2-40B4-BE49-F238E27FC236}">
                <a16:creationId xmlns:a16="http://schemas.microsoft.com/office/drawing/2014/main" id="{A4255F78-66FF-74B3-3AC5-8FCAF16981D8}"/>
              </a:ext>
            </a:extLst>
          </p:cNvPr>
          <p:cNvSpPr txBox="1"/>
          <p:nvPr/>
        </p:nvSpPr>
        <p:spPr>
          <a:xfrm>
            <a:off x="644013" y="1158778"/>
            <a:ext cx="10903974" cy="558806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600" dirty="0"/>
              <a:t> </a:t>
            </a:r>
            <a:r>
              <a:rPr lang="en-US" sz="1600" b="1" dirty="0">
                <a:latin typeface="Times New Roman" panose="02020603050405020304" pitchFamily="18" charset="0"/>
                <a:cs typeface="Times New Roman" panose="02020603050405020304" pitchFamily="18" charset="0"/>
              </a:rPr>
              <a:t>Data Collection</a:t>
            </a:r>
          </a:p>
          <a:p>
            <a:pPr algn="just">
              <a:lnSpc>
                <a:spcPct val="150000"/>
              </a:lnSpc>
            </a:pPr>
            <a:r>
              <a:rPr lang="en-US" sz="1600" dirty="0">
                <a:latin typeface="Times New Roman" panose="02020603050405020304" pitchFamily="18" charset="0"/>
                <a:cs typeface="Times New Roman" panose="02020603050405020304" pitchFamily="18" charset="0"/>
              </a:rPr>
              <a:t>→ Use the E-Commerce Customer Behavior and Purchase dataset containing customer, purchase, product, and sales-related information.</a:t>
            </a:r>
          </a:p>
          <a:p>
            <a:pPr marL="285750" indent="-285750">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Data Preprocessing</a:t>
            </a:r>
          </a:p>
          <a:p>
            <a:pPr algn="just">
              <a:lnSpc>
                <a:spcPct val="150000"/>
              </a:lnSpc>
            </a:pPr>
            <a:r>
              <a:rPr lang="en-US" sz="1600" dirty="0">
                <a:latin typeface="Times New Roman" panose="02020603050405020304" pitchFamily="18" charset="0"/>
                <a:cs typeface="Times New Roman" panose="02020603050405020304" pitchFamily="18" charset="0"/>
              </a:rPr>
              <a:t>→ Handle missing values, duplicates, inconsistencies, and outliers to prepare clean data for analysis.</a:t>
            </a:r>
          </a:p>
          <a:p>
            <a:pPr marL="285750" indent="-285750">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Exploratory Data Analysis (EDA)</a:t>
            </a:r>
          </a:p>
          <a:p>
            <a:pPr algn="just">
              <a:lnSpc>
                <a:spcPct val="150000"/>
              </a:lnSpc>
            </a:pPr>
            <a:r>
              <a:rPr lang="en-US" sz="1600" dirty="0">
                <a:latin typeface="Times New Roman" panose="02020603050405020304" pitchFamily="18" charset="0"/>
                <a:cs typeface="Times New Roman" panose="02020603050405020304" pitchFamily="18" charset="0"/>
              </a:rPr>
              <a:t>→ Analyze sales trends, product performance, and customer purchasing behavior using statistical analysis and visualizations.</a:t>
            </a:r>
          </a:p>
          <a:p>
            <a:pPr marL="285750" indent="-285750">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Feature Engineering</a:t>
            </a:r>
          </a:p>
          <a:p>
            <a:pPr>
              <a:lnSpc>
                <a:spcPct val="150000"/>
              </a:lnSpc>
            </a:pPr>
            <a:r>
              <a:rPr lang="en-US" sz="1600" dirty="0">
                <a:latin typeface="Times New Roman" panose="02020603050405020304" pitchFamily="18" charset="0"/>
                <a:cs typeface="Times New Roman" panose="02020603050405020304" pitchFamily="18" charset="0"/>
              </a:rPr>
              <a:t>→ Create customer-level behavioral features from transaction data to represent purchasing characteristics.</a:t>
            </a:r>
          </a:p>
          <a:p>
            <a:pPr marL="285750" indent="-285750">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Customer Segmentation</a:t>
            </a:r>
          </a:p>
          <a:p>
            <a:pPr algn="just">
              <a:lnSpc>
                <a:spcPct val="150000"/>
              </a:lnSpc>
            </a:pPr>
            <a:r>
              <a:rPr lang="en-US" sz="1600" dirty="0">
                <a:latin typeface="Times New Roman" panose="02020603050405020304" pitchFamily="18" charset="0"/>
                <a:cs typeface="Times New Roman" panose="02020603050405020304" pitchFamily="18" charset="0"/>
              </a:rPr>
              <a:t>→ Apply K-Means clustering to group customers with similar purchasing characteristics.</a:t>
            </a:r>
          </a:p>
          <a:p>
            <a:pPr marL="285750" indent="-285750">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Cluster Evaluation &amp; Interpretation</a:t>
            </a:r>
          </a:p>
          <a:p>
            <a:pPr algn="just">
              <a:lnSpc>
                <a:spcPct val="150000"/>
              </a:lnSpc>
            </a:pPr>
            <a:r>
              <a:rPr lang="en-US" sz="1600" dirty="0">
                <a:latin typeface="Times New Roman" panose="02020603050405020304" pitchFamily="18" charset="0"/>
                <a:cs typeface="Times New Roman" panose="02020603050405020304" pitchFamily="18" charset="0"/>
              </a:rPr>
              <a:t>→ Evaluate the clusters using suitable metrics and interpret the behavior and characteristics of each customer segment.</a:t>
            </a:r>
          </a:p>
          <a:p>
            <a:pPr marL="285750" indent="-285750">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Dashboard Development</a:t>
            </a:r>
          </a:p>
          <a:p>
            <a:pPr>
              <a:lnSpc>
                <a:spcPct val="150000"/>
              </a:lnSpc>
            </a:pPr>
            <a:r>
              <a:rPr lang="en-US" sz="1600" dirty="0">
                <a:latin typeface="Times New Roman" panose="02020603050405020304" pitchFamily="18" charset="0"/>
                <a:cs typeface="Times New Roman" panose="02020603050405020304" pitchFamily="18" charset="0"/>
              </a:rPr>
              <a:t>→ Develop an interactive dashboard to present sales, product, customer behavior, and segmentation insights.</a:t>
            </a:r>
          </a:p>
        </p:txBody>
      </p:sp>
    </p:spTree>
    <p:extLst>
      <p:ext uri="{BB962C8B-B14F-4D97-AF65-F5344CB8AC3E}">
        <p14:creationId xmlns:p14="http://schemas.microsoft.com/office/powerpoint/2010/main" val="4247981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C9893-FBA6-8E3C-F2EF-177C9FB0B18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9E42B97-ECC8-2F84-6A9D-6E3A92405D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650" y="111155"/>
            <a:ext cx="1763311" cy="883809"/>
          </a:xfrm>
          <a:prstGeom prst="rect">
            <a:avLst/>
          </a:prstGeom>
          <a:noFill/>
          <a:ln>
            <a:noFill/>
          </a:ln>
        </p:spPr>
      </p:pic>
      <p:sp>
        <p:nvSpPr>
          <p:cNvPr id="6" name="TextBox 5">
            <a:extLst>
              <a:ext uri="{FF2B5EF4-FFF2-40B4-BE49-F238E27FC236}">
                <a16:creationId xmlns:a16="http://schemas.microsoft.com/office/drawing/2014/main" id="{605BC96C-A430-88F8-3EBD-A51338655959}"/>
              </a:ext>
            </a:extLst>
          </p:cNvPr>
          <p:cNvSpPr txBox="1"/>
          <p:nvPr/>
        </p:nvSpPr>
        <p:spPr>
          <a:xfrm>
            <a:off x="2634299" y="210452"/>
            <a:ext cx="6587613"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Literature Survey</a:t>
            </a:r>
          </a:p>
        </p:txBody>
      </p:sp>
      <p:graphicFrame>
        <p:nvGraphicFramePr>
          <p:cNvPr id="3" name="Table 2">
            <a:extLst>
              <a:ext uri="{FF2B5EF4-FFF2-40B4-BE49-F238E27FC236}">
                <a16:creationId xmlns:a16="http://schemas.microsoft.com/office/drawing/2014/main" id="{AF2CCBDC-F4EF-C2F6-4E5B-C6D9C144E6F6}"/>
              </a:ext>
            </a:extLst>
          </p:cNvPr>
          <p:cNvGraphicFramePr>
            <a:graphicFrameLocks noGrp="1"/>
          </p:cNvGraphicFramePr>
          <p:nvPr>
            <p:extLst>
              <p:ext uri="{D42A27DB-BD31-4B8C-83A1-F6EECF244321}">
                <p14:modId xmlns:p14="http://schemas.microsoft.com/office/powerpoint/2010/main" val="1720961308"/>
              </p:ext>
            </p:extLst>
          </p:nvPr>
        </p:nvGraphicFramePr>
        <p:xfrm>
          <a:off x="255639" y="1034390"/>
          <a:ext cx="11503742" cy="5498410"/>
        </p:xfrm>
        <a:graphic>
          <a:graphicData uri="http://schemas.openxmlformats.org/drawingml/2006/table">
            <a:tbl>
              <a:tblPr>
                <a:tableStyleId>{ED083AE6-46FA-4A59-8FB0-9F97EB10719F}</a:tableStyleId>
              </a:tblPr>
              <a:tblGrid>
                <a:gridCol w="363793">
                  <a:extLst>
                    <a:ext uri="{9D8B030D-6E8A-4147-A177-3AD203B41FA5}">
                      <a16:colId xmlns:a16="http://schemas.microsoft.com/office/drawing/2014/main" val="616618693"/>
                    </a:ext>
                  </a:extLst>
                </a:gridCol>
                <a:gridCol w="2428568">
                  <a:extLst>
                    <a:ext uri="{9D8B030D-6E8A-4147-A177-3AD203B41FA5}">
                      <a16:colId xmlns:a16="http://schemas.microsoft.com/office/drawing/2014/main" val="3863495489"/>
                    </a:ext>
                  </a:extLst>
                </a:gridCol>
                <a:gridCol w="1573161">
                  <a:extLst>
                    <a:ext uri="{9D8B030D-6E8A-4147-A177-3AD203B41FA5}">
                      <a16:colId xmlns:a16="http://schemas.microsoft.com/office/drawing/2014/main" val="95844855"/>
                    </a:ext>
                  </a:extLst>
                </a:gridCol>
                <a:gridCol w="2723536">
                  <a:extLst>
                    <a:ext uri="{9D8B030D-6E8A-4147-A177-3AD203B41FA5}">
                      <a16:colId xmlns:a16="http://schemas.microsoft.com/office/drawing/2014/main" val="666155164"/>
                    </a:ext>
                  </a:extLst>
                </a:gridCol>
                <a:gridCol w="2674374">
                  <a:extLst>
                    <a:ext uri="{9D8B030D-6E8A-4147-A177-3AD203B41FA5}">
                      <a16:colId xmlns:a16="http://schemas.microsoft.com/office/drawing/2014/main" val="1425278923"/>
                    </a:ext>
                  </a:extLst>
                </a:gridCol>
                <a:gridCol w="1740310">
                  <a:extLst>
                    <a:ext uri="{9D8B030D-6E8A-4147-A177-3AD203B41FA5}">
                      <a16:colId xmlns:a16="http://schemas.microsoft.com/office/drawing/2014/main" val="1723663686"/>
                    </a:ext>
                  </a:extLst>
                </a:gridCol>
              </a:tblGrid>
              <a:tr h="417817">
                <a:tc>
                  <a:txBody>
                    <a:bodyPr/>
                    <a:lstStyle/>
                    <a:p>
                      <a:pPr algn="ctr">
                        <a:buNone/>
                      </a:pPr>
                      <a:r>
                        <a:rPr lang="en-US" sz="1200" b="1" dirty="0">
                          <a:latin typeface="Times New Roman" panose="02020603050405020304" pitchFamily="18" charset="0"/>
                          <a:cs typeface="Times New Roman" panose="02020603050405020304" pitchFamily="18" charset="0"/>
                        </a:rPr>
                        <a:t>S.No</a:t>
                      </a:r>
                    </a:p>
                  </a:txBody>
                  <a:tcPr marL="25008" marR="25008" marT="12504" marB="12504" anchor="ctr">
                    <a:solidFill>
                      <a:schemeClr val="accent4">
                        <a:lumMod val="60000"/>
                        <a:lumOff val="40000"/>
                      </a:schemeClr>
                    </a:solidFill>
                  </a:tcPr>
                </a:tc>
                <a:tc>
                  <a:txBody>
                    <a:bodyPr/>
                    <a:lstStyle/>
                    <a:p>
                      <a:pPr algn="ctr">
                        <a:buNone/>
                      </a:pPr>
                      <a:r>
                        <a:rPr lang="en-US" sz="1200" b="1" dirty="0">
                          <a:latin typeface="Times New Roman" panose="02020603050405020304" pitchFamily="18" charset="0"/>
                          <a:cs typeface="Times New Roman" panose="02020603050405020304" pitchFamily="18" charset="0"/>
                        </a:rPr>
                        <a:t>Paper / Year</a:t>
                      </a:r>
                    </a:p>
                  </a:txBody>
                  <a:tcPr marL="25008" marR="25008" marT="12504" marB="12504" anchor="ctr">
                    <a:solidFill>
                      <a:schemeClr val="accent4">
                        <a:lumMod val="60000"/>
                        <a:lumOff val="40000"/>
                      </a:schemeClr>
                    </a:solidFill>
                  </a:tcPr>
                </a:tc>
                <a:tc>
                  <a:txBody>
                    <a:bodyPr/>
                    <a:lstStyle/>
                    <a:p>
                      <a:pPr algn="ctr">
                        <a:buNone/>
                      </a:pPr>
                      <a:r>
                        <a:rPr lang="en-US" sz="1200" b="1" dirty="0">
                          <a:latin typeface="Times New Roman" panose="02020603050405020304" pitchFamily="18" charset="0"/>
                          <a:cs typeface="Times New Roman" panose="02020603050405020304" pitchFamily="18" charset="0"/>
                        </a:rPr>
                        <a:t>Authors</a:t>
                      </a:r>
                    </a:p>
                  </a:txBody>
                  <a:tcPr marL="25008" marR="25008" marT="12504" marB="12504" anchor="ctr">
                    <a:solidFill>
                      <a:schemeClr val="accent4">
                        <a:lumMod val="60000"/>
                        <a:lumOff val="40000"/>
                      </a:schemeClr>
                    </a:solidFill>
                  </a:tcPr>
                </a:tc>
                <a:tc>
                  <a:txBody>
                    <a:bodyPr/>
                    <a:lstStyle/>
                    <a:p>
                      <a:pPr algn="ctr">
                        <a:buNone/>
                      </a:pPr>
                      <a:r>
                        <a:rPr lang="en-US" sz="1200" b="1" dirty="0">
                          <a:latin typeface="Times New Roman" panose="02020603050405020304" pitchFamily="18" charset="0"/>
                          <a:cs typeface="Times New Roman" panose="02020603050405020304" pitchFamily="18" charset="0"/>
                        </a:rPr>
                        <a:t>Drawbacks / Limitations</a:t>
                      </a:r>
                    </a:p>
                  </a:txBody>
                  <a:tcPr marL="25008" marR="25008" marT="12504" marB="12504" anchor="ctr">
                    <a:solidFill>
                      <a:schemeClr val="accent4">
                        <a:lumMod val="60000"/>
                        <a:lumOff val="40000"/>
                      </a:schemeClr>
                    </a:solidFill>
                  </a:tcPr>
                </a:tc>
                <a:tc>
                  <a:txBody>
                    <a:bodyPr/>
                    <a:lstStyle/>
                    <a:p>
                      <a:pPr algn="ctr">
                        <a:buNone/>
                      </a:pPr>
                      <a:r>
                        <a:rPr lang="en-US" sz="1200" b="1" dirty="0">
                          <a:latin typeface="Times New Roman" panose="02020603050405020304" pitchFamily="18" charset="0"/>
                          <a:cs typeface="Times New Roman" panose="02020603050405020304" pitchFamily="18" charset="0"/>
                        </a:rPr>
                        <a:t>How RetailIQ Addresses the Gap</a:t>
                      </a:r>
                    </a:p>
                  </a:txBody>
                  <a:tcPr marL="25008" marR="25008" marT="12504" marB="12504" anchor="ctr">
                    <a:solidFill>
                      <a:schemeClr val="accent4">
                        <a:lumMod val="60000"/>
                        <a:lumOff val="40000"/>
                      </a:schemeClr>
                    </a:solidFill>
                  </a:tcPr>
                </a:tc>
                <a:tc>
                  <a:txBody>
                    <a:bodyPr/>
                    <a:lstStyle/>
                    <a:p>
                      <a:pPr algn="ctr">
                        <a:buNone/>
                      </a:pPr>
                      <a:r>
                        <a:rPr lang="en-US" sz="1200" b="1" dirty="0">
                          <a:latin typeface="Times New Roman" panose="02020603050405020304" pitchFamily="18" charset="0"/>
                          <a:cs typeface="Times New Roman" panose="02020603050405020304" pitchFamily="18" charset="0"/>
                        </a:rPr>
                        <a:t>Link</a:t>
                      </a:r>
                    </a:p>
                  </a:txBody>
                  <a:tcPr marL="25008" marR="25008" marT="12504" marB="12504" anchor="ctr">
                    <a:solidFill>
                      <a:schemeClr val="accent4">
                        <a:lumMod val="60000"/>
                        <a:lumOff val="40000"/>
                      </a:schemeClr>
                    </a:solidFill>
                  </a:tcPr>
                </a:tc>
                <a:extLst>
                  <a:ext uri="{0D108BD9-81ED-4DB2-BD59-A6C34878D82A}">
                    <a16:rowId xmlns:a16="http://schemas.microsoft.com/office/drawing/2014/main" val="2411415005"/>
                  </a:ext>
                </a:extLst>
              </a:tr>
              <a:tr h="937032">
                <a:tc>
                  <a:txBody>
                    <a:bodyPr/>
                    <a:lstStyle/>
                    <a:p>
                      <a:pPr algn="ctr">
                        <a:buNone/>
                      </a:pPr>
                      <a:r>
                        <a:rPr lang="en-US" sz="1200" b="1" dirty="0"/>
                        <a:t>1</a:t>
                      </a:r>
                    </a:p>
                    <a:p>
                      <a:pPr algn="ctr">
                        <a:buNone/>
                      </a:pPr>
                      <a:endParaRPr lang="en-US" sz="1200" dirty="0">
                        <a:latin typeface="Times New Roman" panose="02020603050405020304" pitchFamily="18" charset="0"/>
                        <a:cs typeface="Times New Roman" panose="02020603050405020304" pitchFamily="18" charset="0"/>
                      </a:endParaRPr>
                    </a:p>
                  </a:txBody>
                  <a:tcPr marL="25008" marR="25008" marT="12504" marB="12504" anchor="ctr"/>
                </a:tc>
                <a:tc>
                  <a:txBody>
                    <a:bodyPr/>
                    <a:lstStyle/>
                    <a:p>
                      <a:pPr algn="l">
                        <a:buNone/>
                      </a:pPr>
                      <a:r>
                        <a:rPr lang="en-US" sz="1200" dirty="0"/>
                        <a:t>User Value Identification Based on Improved RFM Model and K-Means++ Algorithm for Complex Data Analysis (2021)</a:t>
                      </a:r>
                      <a:endParaRPr lang="en-US" sz="1200" dirty="0">
                        <a:latin typeface="Times New Roman" panose="02020603050405020304" pitchFamily="18" charset="0"/>
                        <a:cs typeface="Times New Roman" panose="02020603050405020304" pitchFamily="18" charset="0"/>
                      </a:endParaRPr>
                    </a:p>
                  </a:txBody>
                  <a:tcPr marL="25008" marR="25008" marT="12504" marB="12504" anchor="ctr"/>
                </a:tc>
                <a:tc>
                  <a:txBody>
                    <a:bodyPr/>
                    <a:lstStyle/>
                    <a:p>
                      <a:pPr algn="l">
                        <a:buNone/>
                      </a:pPr>
                      <a:r>
                        <a:rPr lang="en-US" sz="1200" dirty="0"/>
                        <a:t>Jun Wu, Li Shi, Liping Yang, Xiaxia Niu, Yuanyuan Li, Xiaodong Cui, Sang-Bing Tsai, Yanbu Zhang</a:t>
                      </a:r>
                      <a:endParaRPr lang="en-US" sz="1200" dirty="0">
                        <a:latin typeface="Times New Roman" panose="02020603050405020304" pitchFamily="18" charset="0"/>
                        <a:cs typeface="Times New Roman" panose="02020603050405020304" pitchFamily="18" charset="0"/>
                      </a:endParaRPr>
                    </a:p>
                  </a:txBody>
                  <a:tcPr marL="25008" marR="25008" marT="12504" marB="12504" anchor="ctr"/>
                </a:tc>
                <a:tc>
                  <a:txBody>
                    <a:bodyPr/>
                    <a:lstStyle/>
                    <a:p>
                      <a:pPr algn="l">
                        <a:buNone/>
                      </a:pPr>
                      <a:r>
                        <a:rPr lang="en-US" sz="1200" dirty="0"/>
                        <a:t>Focuses mainly on user-value identification using an improved RFM model and K-Means++; broader sales/product analytics are outside its main focus.</a:t>
                      </a:r>
                      <a:endParaRPr lang="en-US" sz="1200" dirty="0">
                        <a:latin typeface="Times New Roman" panose="02020603050405020304" pitchFamily="18" charset="0"/>
                        <a:cs typeface="Times New Roman" panose="02020603050405020304" pitchFamily="18" charset="0"/>
                      </a:endParaRPr>
                    </a:p>
                  </a:txBody>
                  <a:tcPr marL="25008" marR="25008" marT="12504" marB="12504" anchor="ctr"/>
                </a:tc>
                <a:tc>
                  <a:txBody>
                    <a:bodyPr/>
                    <a:lstStyle/>
                    <a:p>
                      <a:pPr algn="l">
                        <a:buNone/>
                      </a:pPr>
                      <a:r>
                        <a:rPr lang="en-US" sz="1200" dirty="0"/>
                        <a:t>RetailIQ goes beyond user-value segmentation by integrating sales, product performance, customer behavior, and segmentation.</a:t>
                      </a:r>
                      <a:endParaRPr lang="en-US" sz="1200" dirty="0">
                        <a:latin typeface="Times New Roman" panose="02020603050405020304" pitchFamily="18" charset="0"/>
                        <a:cs typeface="Times New Roman" panose="02020603050405020304" pitchFamily="18" charset="0"/>
                      </a:endParaRPr>
                    </a:p>
                  </a:txBody>
                  <a:tcPr marL="25008" marR="25008" marT="12504" marB="12504" anchor="ctr"/>
                </a:tc>
                <a:tc>
                  <a:txBody>
                    <a:bodyPr/>
                    <a:lstStyle/>
                    <a:p>
                      <a:pPr algn="l">
                        <a:buNone/>
                      </a:pPr>
                      <a:r>
                        <a:rPr lang="en-US" sz="1200" dirty="0">
                          <a:hlinkClick r:id="rId4"/>
                        </a:rPr>
                        <a:t>https://onlinelibrary.wiley.com/doi/10.1155/2021/9982484</a:t>
                      </a:r>
                      <a:endParaRPr lang="en-US" sz="1200" dirty="0">
                        <a:latin typeface="Times New Roman" panose="02020603050405020304" pitchFamily="18" charset="0"/>
                        <a:cs typeface="Times New Roman" panose="02020603050405020304" pitchFamily="18" charset="0"/>
                      </a:endParaRPr>
                    </a:p>
                  </a:txBody>
                  <a:tcPr marL="25008" marR="25008" marT="12504" marB="12504" anchor="ctr"/>
                </a:tc>
                <a:extLst>
                  <a:ext uri="{0D108BD9-81ED-4DB2-BD59-A6C34878D82A}">
                    <a16:rowId xmlns:a16="http://schemas.microsoft.com/office/drawing/2014/main" val="1481944924"/>
                  </a:ext>
                </a:extLst>
              </a:tr>
              <a:tr h="824049">
                <a:tc>
                  <a:txBody>
                    <a:bodyPr/>
                    <a:lstStyle/>
                    <a:p>
                      <a:pPr algn="ctr">
                        <a:buNone/>
                      </a:pPr>
                      <a:r>
                        <a:rPr lang="en-US" sz="1200" b="1" dirty="0"/>
                        <a:t>2</a:t>
                      </a:r>
                      <a:endParaRPr lang="en-US" sz="1200" b="1" dirty="0">
                        <a:latin typeface="Times New Roman" panose="02020603050405020304" pitchFamily="18" charset="0"/>
                        <a:cs typeface="Times New Roman" panose="02020603050405020304" pitchFamily="18" charset="0"/>
                      </a:endParaRPr>
                    </a:p>
                  </a:txBody>
                  <a:tcPr marL="25008" marR="25008" marT="12504" marB="12504" anchor="ctr"/>
                </a:tc>
                <a:tc>
                  <a:txBody>
                    <a:bodyPr/>
                    <a:lstStyle/>
                    <a:p>
                      <a:pPr algn="l">
                        <a:buNone/>
                      </a:pPr>
                      <a:r>
                        <a:rPr lang="en-US" sz="1200" dirty="0"/>
                        <a:t>An E-commerce Customer Segmentation Method based on RFM Weighted K-means (2022)</a:t>
                      </a:r>
                      <a:endParaRPr lang="en-US" sz="1200" dirty="0">
                        <a:latin typeface="Times New Roman" panose="02020603050405020304" pitchFamily="18" charset="0"/>
                        <a:cs typeface="Times New Roman" panose="02020603050405020304" pitchFamily="18" charset="0"/>
                      </a:endParaRPr>
                    </a:p>
                  </a:txBody>
                  <a:tcPr marL="25008" marR="25008" marT="12504" marB="12504" anchor="ctr"/>
                </a:tc>
                <a:tc>
                  <a:txBody>
                    <a:bodyPr/>
                    <a:lstStyle/>
                    <a:p>
                      <a:pPr algn="l">
                        <a:buNone/>
                      </a:pPr>
                      <a:r>
                        <a:rPr lang="en-US" sz="1200" dirty="0"/>
                        <a:t>Pengfei Li, Chen Wang, Jianhong Wu, Radovan Madleňák</a:t>
                      </a:r>
                      <a:endParaRPr lang="en-US" sz="1200" dirty="0">
                        <a:latin typeface="Times New Roman" panose="02020603050405020304" pitchFamily="18" charset="0"/>
                        <a:cs typeface="Times New Roman" panose="02020603050405020304" pitchFamily="18" charset="0"/>
                      </a:endParaRPr>
                    </a:p>
                  </a:txBody>
                  <a:tcPr marL="25008" marR="25008" marT="12504" marB="12504" anchor="ctr"/>
                </a:tc>
                <a:tc>
                  <a:txBody>
                    <a:bodyPr/>
                    <a:lstStyle/>
                    <a:p>
                      <a:pPr algn="l">
                        <a:buNone/>
                      </a:pPr>
                      <a:r>
                        <a:rPr lang="en-US" sz="1200" dirty="0"/>
                        <a:t>Concentrates on weighted RFM-based customer segmentation rather than an end-to-end e-commerce analytics platform.</a:t>
                      </a:r>
                      <a:endParaRPr lang="en-US" sz="1200" dirty="0">
                        <a:latin typeface="Times New Roman" panose="02020603050405020304" pitchFamily="18" charset="0"/>
                        <a:cs typeface="Times New Roman" panose="02020603050405020304" pitchFamily="18" charset="0"/>
                      </a:endParaRPr>
                    </a:p>
                  </a:txBody>
                  <a:tcPr marL="25008" marR="25008" marT="12504" marB="12504" anchor="ctr"/>
                </a:tc>
                <a:tc>
                  <a:txBody>
                    <a:bodyPr/>
                    <a:lstStyle/>
                    <a:p>
                      <a:pPr algn="l">
                        <a:buNone/>
                      </a:pPr>
                      <a:r>
                        <a:rPr lang="en-US" sz="1200" dirty="0"/>
                        <a:t>RetailIQ combines feature engineering, sales analysis, customer analysis, K-Means segmentation, and visualization.</a:t>
                      </a:r>
                      <a:endParaRPr lang="en-US" sz="1200" dirty="0">
                        <a:latin typeface="Times New Roman" panose="02020603050405020304" pitchFamily="18" charset="0"/>
                        <a:cs typeface="Times New Roman" panose="02020603050405020304" pitchFamily="18" charset="0"/>
                      </a:endParaRPr>
                    </a:p>
                  </a:txBody>
                  <a:tcPr marL="25008" marR="25008" marT="12504" marB="12504" anchor="ctr"/>
                </a:tc>
                <a:tc>
                  <a:txBody>
                    <a:bodyPr/>
                    <a:lstStyle/>
                    <a:p>
                      <a:pPr algn="l">
                        <a:buNone/>
                      </a:pPr>
                      <a:r>
                        <a:rPr lang="en-US" sz="1200" dirty="0">
                          <a:hlinkClick r:id="rId5"/>
                        </a:rPr>
                        <a:t>https://ieeexplore.ieee.org/document/9827636</a:t>
                      </a:r>
                      <a:endParaRPr lang="en-US" sz="1200" dirty="0">
                        <a:latin typeface="Times New Roman" panose="02020603050405020304" pitchFamily="18" charset="0"/>
                        <a:cs typeface="Times New Roman" panose="02020603050405020304" pitchFamily="18" charset="0"/>
                      </a:endParaRPr>
                    </a:p>
                  </a:txBody>
                  <a:tcPr marL="25008" marR="25008" marT="12504" marB="12504" anchor="ctr"/>
                </a:tc>
                <a:extLst>
                  <a:ext uri="{0D108BD9-81ED-4DB2-BD59-A6C34878D82A}">
                    <a16:rowId xmlns:a16="http://schemas.microsoft.com/office/drawing/2014/main" val="1654309334"/>
                  </a:ext>
                </a:extLst>
              </a:tr>
              <a:tr h="1071909">
                <a:tc>
                  <a:txBody>
                    <a:bodyPr/>
                    <a:lstStyle/>
                    <a:p>
                      <a:pPr algn="ctr">
                        <a:buNone/>
                      </a:pPr>
                      <a:r>
                        <a:rPr lang="en-US" sz="1200" b="1" dirty="0"/>
                        <a:t>3</a:t>
                      </a:r>
                      <a:endParaRPr lang="en-US" sz="1200" b="1" dirty="0">
                        <a:latin typeface="Times New Roman" panose="02020603050405020304" pitchFamily="18" charset="0"/>
                        <a:cs typeface="Times New Roman" panose="02020603050405020304" pitchFamily="18" charset="0"/>
                      </a:endParaRPr>
                    </a:p>
                  </a:txBody>
                  <a:tcPr marL="25008" marR="25008" marT="12504" marB="12504" anchor="ctr"/>
                </a:tc>
                <a:tc>
                  <a:txBody>
                    <a:bodyPr/>
                    <a:lstStyle/>
                    <a:p>
                      <a:pPr algn="l">
                        <a:buNone/>
                      </a:pPr>
                      <a:r>
                        <a:rPr lang="en-US" sz="1200" dirty="0"/>
                        <a:t>Research on Segmenting E-Commerce Customer through an Improved K-Medoids Clustering Algorithm (2022)</a:t>
                      </a:r>
                      <a:endParaRPr lang="en-US" sz="1200" dirty="0">
                        <a:latin typeface="Times New Roman" panose="02020603050405020304" pitchFamily="18" charset="0"/>
                        <a:cs typeface="Times New Roman" panose="02020603050405020304" pitchFamily="18" charset="0"/>
                      </a:endParaRPr>
                    </a:p>
                  </a:txBody>
                  <a:tcPr marL="25008" marR="25008" marT="12504" marB="12504" anchor="ctr"/>
                </a:tc>
                <a:tc>
                  <a:txBody>
                    <a:bodyPr/>
                    <a:lstStyle/>
                    <a:p>
                      <a:pPr algn="l">
                        <a:buNone/>
                      </a:pPr>
                      <a:r>
                        <a:rPr lang="en-US" sz="1200" dirty="0"/>
                        <a:t>Zeng yuan Wu, Lingmin Jin, Jiali Zhao, Lizheng Jing, Liang Chen</a:t>
                      </a:r>
                      <a:endParaRPr lang="en-US" sz="1200" dirty="0">
                        <a:latin typeface="Times New Roman" panose="02020603050405020304" pitchFamily="18" charset="0"/>
                        <a:cs typeface="Times New Roman" panose="02020603050405020304" pitchFamily="18" charset="0"/>
                      </a:endParaRPr>
                    </a:p>
                  </a:txBody>
                  <a:tcPr marL="25008" marR="25008" marT="12504" marB="12504" anchor="ctr"/>
                </a:tc>
                <a:tc>
                  <a:txBody>
                    <a:bodyPr/>
                    <a:lstStyle/>
                    <a:p>
                      <a:pPr algn="l">
                        <a:buNone/>
                      </a:pPr>
                      <a:r>
                        <a:rPr lang="en-US" sz="1200" dirty="0"/>
                        <a:t>Focuses on improving RFM-based features and K-Medoids clustering; the authors themselves identify the need for additional behavioral features and alternative clustering methods.</a:t>
                      </a:r>
                      <a:endParaRPr lang="en-US" sz="1200" dirty="0">
                        <a:latin typeface="Times New Roman" panose="02020603050405020304" pitchFamily="18" charset="0"/>
                        <a:cs typeface="Times New Roman" panose="02020603050405020304" pitchFamily="18" charset="0"/>
                      </a:endParaRPr>
                    </a:p>
                  </a:txBody>
                  <a:tcPr marL="25008" marR="25008" marT="12504" marB="12504" anchor="ctr"/>
                </a:tc>
                <a:tc>
                  <a:txBody>
                    <a:bodyPr/>
                    <a:lstStyle/>
                    <a:p>
                      <a:pPr algn="l">
                        <a:buNone/>
                      </a:pPr>
                      <a:r>
                        <a:rPr lang="en-US" sz="1200" dirty="0"/>
                        <a:t>RetailIQ uses customer-level feature engineering and K-Means within a broader analytics workflow rather than focusing only on clustering improvement.</a:t>
                      </a:r>
                      <a:endParaRPr lang="en-US" sz="1200" dirty="0">
                        <a:latin typeface="Times New Roman" panose="02020603050405020304" pitchFamily="18" charset="0"/>
                        <a:cs typeface="Times New Roman" panose="02020603050405020304" pitchFamily="18" charset="0"/>
                      </a:endParaRPr>
                    </a:p>
                  </a:txBody>
                  <a:tcPr marL="25008" marR="25008" marT="12504" marB="12504" anchor="ctr"/>
                </a:tc>
                <a:tc>
                  <a:txBody>
                    <a:bodyPr/>
                    <a:lstStyle/>
                    <a:p>
                      <a:pPr algn="l">
                        <a:buNone/>
                      </a:pPr>
                      <a:r>
                        <a:rPr lang="en-US" sz="1200" dirty="0">
                          <a:hlinkClick r:id="rId6"/>
                        </a:rPr>
                        <a:t>https://doi.org/10.1155/2022/9930613</a:t>
                      </a:r>
                      <a:endParaRPr lang="en-US" sz="1200" dirty="0">
                        <a:latin typeface="Times New Roman" panose="02020603050405020304" pitchFamily="18" charset="0"/>
                        <a:cs typeface="Times New Roman" panose="02020603050405020304" pitchFamily="18" charset="0"/>
                      </a:endParaRPr>
                    </a:p>
                  </a:txBody>
                  <a:tcPr marL="25008" marR="25008" marT="12504" marB="12504" anchor="ctr"/>
                </a:tc>
                <a:extLst>
                  <a:ext uri="{0D108BD9-81ED-4DB2-BD59-A6C34878D82A}">
                    <a16:rowId xmlns:a16="http://schemas.microsoft.com/office/drawing/2014/main" val="1677903813"/>
                  </a:ext>
                </a:extLst>
              </a:tr>
              <a:tr h="1207189">
                <a:tc>
                  <a:txBody>
                    <a:bodyPr/>
                    <a:lstStyle/>
                    <a:p>
                      <a:pPr algn="ctr">
                        <a:buNone/>
                      </a:pPr>
                      <a:r>
                        <a:rPr lang="en-US" sz="1200" b="1" dirty="0"/>
                        <a:t>4</a:t>
                      </a:r>
                      <a:endParaRPr lang="en-US" sz="1200" b="1" dirty="0">
                        <a:latin typeface="Times New Roman" panose="02020603050405020304" pitchFamily="18" charset="0"/>
                        <a:cs typeface="Times New Roman" panose="02020603050405020304" pitchFamily="18" charset="0"/>
                      </a:endParaRPr>
                    </a:p>
                  </a:txBody>
                  <a:tcPr marL="25008" marR="25008" marT="12504" marB="12504" anchor="ctr"/>
                </a:tc>
                <a:tc>
                  <a:txBody>
                    <a:bodyPr/>
                    <a:lstStyle/>
                    <a:p>
                      <a:pPr algn="l">
                        <a:buNone/>
                      </a:pPr>
                      <a:r>
                        <a:rPr lang="en-US" sz="1200"/>
                        <a:t>A Review on Customer Segmentation Methods for Personalized Customer Targeting in E-Commerce Use Cases (2023)</a:t>
                      </a:r>
                      <a:endParaRPr lang="en-US" sz="1200">
                        <a:latin typeface="Times New Roman" panose="02020603050405020304" pitchFamily="18" charset="0"/>
                        <a:cs typeface="Times New Roman" panose="02020603050405020304" pitchFamily="18" charset="0"/>
                      </a:endParaRPr>
                    </a:p>
                  </a:txBody>
                  <a:tcPr marL="25008" marR="25008" marT="12504" marB="12504" anchor="ctr"/>
                </a:tc>
                <a:tc>
                  <a:txBody>
                    <a:bodyPr/>
                    <a:lstStyle/>
                    <a:p>
                      <a:pPr algn="l">
                        <a:buNone/>
                      </a:pPr>
                      <a:r>
                        <a:rPr lang="en-US" sz="1200" dirty="0"/>
                        <a:t>Miguel Alves Gomes, Tobias Meisen</a:t>
                      </a:r>
                      <a:endParaRPr lang="en-US" sz="1200" dirty="0">
                        <a:latin typeface="Times New Roman" panose="02020603050405020304" pitchFamily="18" charset="0"/>
                        <a:cs typeface="Times New Roman" panose="02020603050405020304" pitchFamily="18" charset="0"/>
                      </a:endParaRPr>
                    </a:p>
                  </a:txBody>
                  <a:tcPr marL="25008" marR="25008" marT="12504" marB="12504" anchor="ctr"/>
                </a:tc>
                <a:tc>
                  <a:txBody>
                    <a:bodyPr/>
                    <a:lstStyle/>
                    <a:p>
                      <a:pPr algn="l">
                        <a:buNone/>
                      </a:pPr>
                      <a:r>
                        <a:rPr lang="en-US" sz="1200" dirty="0"/>
                        <a:t>This is a review study, not an implemented analytics system; it identifies many segmentation approaches but does not provide a unified sales-and-customer analytics platform. </a:t>
                      </a:r>
                      <a:endParaRPr lang="en-US" sz="1200" dirty="0">
                        <a:latin typeface="Times New Roman" panose="02020603050405020304" pitchFamily="18" charset="0"/>
                        <a:cs typeface="Times New Roman" panose="02020603050405020304" pitchFamily="18" charset="0"/>
                      </a:endParaRPr>
                    </a:p>
                  </a:txBody>
                  <a:tcPr marL="25008" marR="25008" marT="12504" marB="12504" anchor="ctr"/>
                </a:tc>
                <a:tc>
                  <a:txBody>
                    <a:bodyPr/>
                    <a:lstStyle/>
                    <a:p>
                      <a:pPr algn="l">
                        <a:buNone/>
                      </a:pPr>
                      <a:r>
                        <a:rPr lang="en-US" sz="1200" dirty="0"/>
                        <a:t>RetailIQ converts these established segmentation concepts into an end-to-end implementation combining customer analysis, K-Means, and business visualization.</a:t>
                      </a:r>
                      <a:endParaRPr lang="en-US" sz="1200" dirty="0">
                        <a:latin typeface="Times New Roman" panose="02020603050405020304" pitchFamily="18" charset="0"/>
                        <a:cs typeface="Times New Roman" panose="02020603050405020304" pitchFamily="18" charset="0"/>
                      </a:endParaRPr>
                    </a:p>
                  </a:txBody>
                  <a:tcPr marL="25008" marR="25008" marT="12504" marB="12504" anchor="ctr"/>
                </a:tc>
                <a:tc>
                  <a:txBody>
                    <a:bodyPr/>
                    <a:lstStyle/>
                    <a:p>
                      <a:pPr algn="l">
                        <a:buNone/>
                      </a:pPr>
                      <a:r>
                        <a:rPr lang="en-US" sz="1200" dirty="0">
                          <a:hlinkClick r:id="rId7"/>
                        </a:rPr>
                        <a:t>https://doi.org/10.1007/s10257-023-00640-4</a:t>
                      </a:r>
                      <a:endParaRPr lang="en-US" sz="1200" dirty="0">
                        <a:latin typeface="Times New Roman" panose="02020603050405020304" pitchFamily="18" charset="0"/>
                        <a:cs typeface="Times New Roman" panose="02020603050405020304" pitchFamily="18" charset="0"/>
                      </a:endParaRPr>
                    </a:p>
                  </a:txBody>
                  <a:tcPr marL="25008" marR="25008" marT="12504" marB="12504" anchor="ctr"/>
                </a:tc>
                <a:extLst>
                  <a:ext uri="{0D108BD9-81ED-4DB2-BD59-A6C34878D82A}">
                    <a16:rowId xmlns:a16="http://schemas.microsoft.com/office/drawing/2014/main" val="3401319315"/>
                  </a:ext>
                </a:extLst>
              </a:tr>
              <a:tr h="1038038">
                <a:tc>
                  <a:txBody>
                    <a:bodyPr/>
                    <a:lstStyle/>
                    <a:p>
                      <a:pPr algn="ctr">
                        <a:buNone/>
                      </a:pPr>
                      <a:r>
                        <a:rPr lang="en-US" sz="1200" b="1" dirty="0"/>
                        <a:t>5</a:t>
                      </a:r>
                      <a:endParaRPr lang="en-US" sz="1200" b="1" dirty="0">
                        <a:latin typeface="Times New Roman" panose="02020603050405020304" pitchFamily="18" charset="0"/>
                        <a:cs typeface="Times New Roman" panose="02020603050405020304" pitchFamily="18" charset="0"/>
                      </a:endParaRPr>
                    </a:p>
                  </a:txBody>
                  <a:tcPr marL="25008" marR="25008" marT="12504" marB="12504" anchor="ctr"/>
                </a:tc>
                <a:tc>
                  <a:txBody>
                    <a:bodyPr/>
                    <a:lstStyle/>
                    <a:p>
                      <a:pPr algn="l">
                        <a:buNone/>
                      </a:pPr>
                      <a:r>
                        <a:rPr lang="en-US" sz="1200"/>
                        <a:t>A Study on Micro-Segmentation of Retail Customers Using K-Means Clustering (2024)</a:t>
                      </a:r>
                      <a:endParaRPr lang="en-US" sz="1200">
                        <a:latin typeface="Times New Roman" panose="02020603050405020304" pitchFamily="18" charset="0"/>
                        <a:cs typeface="Times New Roman" panose="02020603050405020304" pitchFamily="18" charset="0"/>
                      </a:endParaRPr>
                    </a:p>
                  </a:txBody>
                  <a:tcPr marL="25008" marR="25008" marT="12504" marB="12504" anchor="ctr"/>
                </a:tc>
                <a:tc>
                  <a:txBody>
                    <a:bodyPr/>
                    <a:lstStyle/>
                    <a:p>
                      <a:pPr algn="l">
                        <a:buNone/>
                      </a:pPr>
                      <a:r>
                        <a:rPr lang="en-US" sz="1200" dirty="0"/>
                        <a:t>Divya Mehta, Sanjeewani Sehgal</a:t>
                      </a:r>
                      <a:endParaRPr lang="en-US" sz="1200" dirty="0">
                        <a:latin typeface="Times New Roman" panose="02020603050405020304" pitchFamily="18" charset="0"/>
                        <a:cs typeface="Times New Roman" panose="02020603050405020304" pitchFamily="18" charset="0"/>
                      </a:endParaRPr>
                    </a:p>
                  </a:txBody>
                  <a:tcPr marL="25008" marR="25008" marT="12504" marB="12504" anchor="ctr"/>
                </a:tc>
                <a:tc>
                  <a:txBody>
                    <a:bodyPr/>
                    <a:lstStyle/>
                    <a:p>
                      <a:pPr algn="l">
                        <a:buNone/>
                      </a:pPr>
                      <a:r>
                        <a:rPr lang="en-US" sz="1200" dirty="0"/>
                        <a:t>Focuses primarily on RFM-based retail customer micro-segmentation using K-Means rather than integrating segmentation with broader sales and product analytics.</a:t>
                      </a:r>
                      <a:endParaRPr lang="en-US" sz="1200" dirty="0">
                        <a:latin typeface="Times New Roman" panose="02020603050405020304" pitchFamily="18" charset="0"/>
                        <a:cs typeface="Times New Roman" panose="02020603050405020304" pitchFamily="18" charset="0"/>
                      </a:endParaRPr>
                    </a:p>
                  </a:txBody>
                  <a:tcPr marL="25008" marR="25008" marT="12504" marB="12504" anchor="ctr"/>
                </a:tc>
                <a:tc>
                  <a:txBody>
                    <a:bodyPr/>
                    <a:lstStyle/>
                    <a:p>
                      <a:pPr algn="l">
                        <a:buNone/>
                      </a:pPr>
                      <a:r>
                        <a:rPr lang="en-US" sz="1200" dirty="0"/>
                        <a:t>RetailIQ integrates customer segmentation with sales analysis, product performance, customer behavior, and interactive visualization.</a:t>
                      </a:r>
                      <a:endParaRPr lang="en-US" sz="1200" dirty="0">
                        <a:latin typeface="Times New Roman" panose="02020603050405020304" pitchFamily="18" charset="0"/>
                        <a:cs typeface="Times New Roman" panose="02020603050405020304" pitchFamily="18" charset="0"/>
                      </a:endParaRPr>
                    </a:p>
                  </a:txBody>
                  <a:tcPr marL="25008" marR="25008" marT="12504" marB="12504" anchor="ctr"/>
                </a:tc>
                <a:tc>
                  <a:txBody>
                    <a:bodyPr/>
                    <a:lstStyle/>
                    <a:p>
                      <a:pPr algn="l">
                        <a:buNone/>
                      </a:pPr>
                      <a:r>
                        <a:rPr lang="en-US" sz="1200" dirty="0">
                          <a:hlinkClick r:id="rId8"/>
                        </a:rPr>
                        <a:t>https://doi.org/10.18311/jbt/2024/44468</a:t>
                      </a:r>
                      <a:endParaRPr lang="en-US" sz="1200" dirty="0">
                        <a:latin typeface="Times New Roman" panose="02020603050405020304" pitchFamily="18" charset="0"/>
                        <a:cs typeface="Times New Roman" panose="02020603050405020304" pitchFamily="18" charset="0"/>
                      </a:endParaRPr>
                    </a:p>
                  </a:txBody>
                  <a:tcPr marL="25008" marR="25008" marT="12504" marB="12504" anchor="ctr"/>
                </a:tc>
                <a:extLst>
                  <a:ext uri="{0D108BD9-81ED-4DB2-BD59-A6C34878D82A}">
                    <a16:rowId xmlns:a16="http://schemas.microsoft.com/office/drawing/2014/main" val="819932839"/>
                  </a:ext>
                </a:extLst>
              </a:tr>
            </a:tbl>
          </a:graphicData>
        </a:graphic>
      </p:graphicFrame>
    </p:spTree>
    <p:extLst>
      <p:ext uri="{BB962C8B-B14F-4D97-AF65-F5344CB8AC3E}">
        <p14:creationId xmlns:p14="http://schemas.microsoft.com/office/powerpoint/2010/main" val="27693389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65FCF-A615-2920-E7F6-6D4F2E2C13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2E2205E-CBF2-47F1-3FC4-14FF60E578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649" y="111154"/>
            <a:ext cx="2499986" cy="1253047"/>
          </a:xfrm>
          <a:prstGeom prst="rect">
            <a:avLst/>
          </a:prstGeom>
          <a:noFill/>
          <a:ln>
            <a:noFill/>
          </a:ln>
        </p:spPr>
      </p:pic>
      <p:sp>
        <p:nvSpPr>
          <p:cNvPr id="2" name="TextBox 1">
            <a:extLst>
              <a:ext uri="{FF2B5EF4-FFF2-40B4-BE49-F238E27FC236}">
                <a16:creationId xmlns:a16="http://schemas.microsoft.com/office/drawing/2014/main" id="{E158EE3A-482A-74F3-8B98-1898EE093A36}"/>
              </a:ext>
            </a:extLst>
          </p:cNvPr>
          <p:cNvSpPr txBox="1"/>
          <p:nvPr/>
        </p:nvSpPr>
        <p:spPr>
          <a:xfrm>
            <a:off x="3460955" y="766916"/>
            <a:ext cx="5683045"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Technology Used</a:t>
            </a:r>
          </a:p>
        </p:txBody>
      </p:sp>
      <p:sp>
        <p:nvSpPr>
          <p:cNvPr id="4" name="TextBox 3">
            <a:extLst>
              <a:ext uri="{FF2B5EF4-FFF2-40B4-BE49-F238E27FC236}">
                <a16:creationId xmlns:a16="http://schemas.microsoft.com/office/drawing/2014/main" id="{ECCB5AD9-B374-7467-FD61-E7C12D71E164}"/>
              </a:ext>
            </a:extLst>
          </p:cNvPr>
          <p:cNvSpPr txBox="1"/>
          <p:nvPr/>
        </p:nvSpPr>
        <p:spPr>
          <a:xfrm>
            <a:off x="845574" y="1628507"/>
            <a:ext cx="9901084" cy="2215991"/>
          </a:xfrm>
          <a:prstGeom prst="rect">
            <a:avLst/>
          </a:prstGeom>
          <a:noFill/>
        </p:spPr>
        <p:txBody>
          <a:bodyPr wrap="square" rtlCol="0">
            <a:spAutoFit/>
          </a:bodyPr>
          <a:lstStyle/>
          <a:p>
            <a:pPr lvl="0" algn="just">
              <a:lnSpc>
                <a:spcPct val="150000"/>
              </a:lnSpc>
            </a:pPr>
            <a:r>
              <a:rPr lang="en-US" sz="2000" b="1" dirty="0">
                <a:latin typeface="Times New Roman" panose="02020603050405020304" pitchFamily="18" charset="0"/>
                <a:cs typeface="Times New Roman" panose="02020603050405020304" pitchFamily="18" charset="0"/>
              </a:rPr>
              <a:t>Python</a:t>
            </a:r>
            <a:r>
              <a:rPr lang="en-US" sz="2000" dirty="0">
                <a:latin typeface="Times New Roman" panose="02020603050405020304" pitchFamily="18" charset="0"/>
                <a:cs typeface="Times New Roman" panose="02020603050405020304" pitchFamily="18" charset="0"/>
              </a:rPr>
              <a:t> – Data processing, analysis, and machine learning </a:t>
            </a:r>
          </a:p>
          <a:p>
            <a:pPr lvl="0" algn="just">
              <a:lnSpc>
                <a:spcPct val="150000"/>
              </a:lnSpc>
            </a:pPr>
            <a:r>
              <a:rPr lang="en-US" sz="2000" b="1" dirty="0">
                <a:latin typeface="Times New Roman" panose="02020603050405020304" pitchFamily="18" charset="0"/>
                <a:cs typeface="Times New Roman" panose="02020603050405020304" pitchFamily="18" charset="0"/>
              </a:rPr>
              <a:t>Power BI</a:t>
            </a:r>
            <a:r>
              <a:rPr lang="en-US" sz="2000" dirty="0">
                <a:latin typeface="Times New Roman" panose="02020603050405020304" pitchFamily="18" charset="0"/>
                <a:cs typeface="Times New Roman" panose="02020603050405020304" pitchFamily="18" charset="0"/>
              </a:rPr>
              <a:t> – Interactive dashboard development</a:t>
            </a:r>
          </a:p>
          <a:p>
            <a:pPr algn="just">
              <a:lnSpc>
                <a:spcPct val="150000"/>
              </a:lnSpc>
            </a:pPr>
            <a:r>
              <a:rPr lang="en-US" sz="2000" b="1" dirty="0">
                <a:latin typeface="Times New Roman" panose="02020603050405020304" pitchFamily="18" charset="0"/>
                <a:cs typeface="Times New Roman" panose="02020603050405020304" pitchFamily="18" charset="0"/>
              </a:rPr>
              <a:t>K-Means Clustering </a:t>
            </a:r>
            <a:r>
              <a:rPr lang="en-US" sz="2000" dirty="0">
                <a:latin typeface="Times New Roman" panose="02020603050405020304" pitchFamily="18" charset="0"/>
                <a:cs typeface="Times New Roman" panose="02020603050405020304" pitchFamily="18" charset="0"/>
              </a:rPr>
              <a:t>– Customer segmentation technique</a:t>
            </a:r>
          </a:p>
          <a:p>
            <a:pPr algn="just">
              <a:lnSpc>
                <a:spcPct val="150000"/>
              </a:lnSpc>
            </a:pPr>
            <a:r>
              <a:rPr lang="en-US" sz="2000" b="1" dirty="0">
                <a:latin typeface="Times New Roman" panose="02020603050405020304" pitchFamily="18" charset="0"/>
                <a:cs typeface="Times New Roman" panose="02020603050405020304" pitchFamily="18" charset="0"/>
              </a:rPr>
              <a:t>Microsoft Excel </a:t>
            </a:r>
            <a:r>
              <a:rPr lang="en-US" sz="2000" dirty="0">
                <a:latin typeface="Times New Roman" panose="02020603050405020304" pitchFamily="18" charset="0"/>
                <a:cs typeface="Times New Roman" panose="02020603050405020304" pitchFamily="18" charset="0"/>
              </a:rPr>
              <a:t>– Dataset handling and inspection</a:t>
            </a:r>
          </a:p>
          <a:p>
            <a:endParaRPr lang="en-US" dirty="0"/>
          </a:p>
        </p:txBody>
      </p:sp>
    </p:spTree>
    <p:extLst>
      <p:ext uri="{BB962C8B-B14F-4D97-AF65-F5344CB8AC3E}">
        <p14:creationId xmlns:p14="http://schemas.microsoft.com/office/powerpoint/2010/main" val="1112365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3EF21-943A-351B-E0F9-71B8E27A8C8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6552B9A-98E4-53EB-C63C-62E03D82B9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649" y="111154"/>
            <a:ext cx="2499986" cy="1253047"/>
          </a:xfrm>
          <a:prstGeom prst="rect">
            <a:avLst/>
          </a:prstGeom>
          <a:noFill/>
          <a:ln>
            <a:noFill/>
          </a:ln>
        </p:spPr>
      </p:pic>
      <p:sp>
        <p:nvSpPr>
          <p:cNvPr id="4" name="TextBox 3">
            <a:extLst>
              <a:ext uri="{FF2B5EF4-FFF2-40B4-BE49-F238E27FC236}">
                <a16:creationId xmlns:a16="http://schemas.microsoft.com/office/drawing/2014/main" id="{72E49BF2-EB45-A8BF-FA1A-013EE8D8FC8F}"/>
              </a:ext>
            </a:extLst>
          </p:cNvPr>
          <p:cNvSpPr txBox="1"/>
          <p:nvPr/>
        </p:nvSpPr>
        <p:spPr>
          <a:xfrm>
            <a:off x="889818" y="1466677"/>
            <a:ext cx="10412362" cy="3822650"/>
          </a:xfrm>
          <a:prstGeom prst="rect">
            <a:avLst/>
          </a:prstGeom>
          <a:noFill/>
        </p:spPr>
        <p:txBody>
          <a:bodyPr wrap="square" rtlCol="0">
            <a:spAutoFit/>
          </a:bodyPr>
          <a:lstStyle/>
          <a:p>
            <a:pPr marL="342900" lvl="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Clean and analysis-ready e-commerce dataset. </a:t>
            </a:r>
          </a:p>
          <a:p>
            <a:pPr marL="342900" lvl="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Identification of sales, product, and customer behavior patterns. </a:t>
            </a:r>
          </a:p>
          <a:p>
            <a:pPr marL="342900" lvl="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Meaningful customer segments using K-Means clustering. </a:t>
            </a:r>
          </a:p>
          <a:p>
            <a:pPr marL="342900" lvl="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Evaluation and interpretation of the identified customer segments. </a:t>
            </a:r>
          </a:p>
          <a:p>
            <a:pPr marL="342900" lvl="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 interactive dashboard presenting key e-commerce insights. </a:t>
            </a:r>
          </a:p>
          <a:p>
            <a:pPr marL="342900" lvl="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Actionable insights to support data-driven business decisions.</a:t>
            </a: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6AB6BDA-4028-0865-268A-98BB9BF24F19}"/>
              </a:ext>
            </a:extLst>
          </p:cNvPr>
          <p:cNvSpPr txBox="1"/>
          <p:nvPr/>
        </p:nvSpPr>
        <p:spPr>
          <a:xfrm>
            <a:off x="2802193" y="737677"/>
            <a:ext cx="6587613" cy="1077218"/>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Expected Outcomes</a:t>
            </a:r>
          </a:p>
          <a:p>
            <a:pPr algn="ctr"/>
            <a:endParaRPr 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0333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B1E1E-599B-172D-5C06-099E54C179A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BB577B1-09EC-712C-BD01-E7178A0B0C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649" y="111154"/>
            <a:ext cx="2499986" cy="1253047"/>
          </a:xfrm>
          <a:prstGeom prst="rect">
            <a:avLst/>
          </a:prstGeom>
          <a:noFill/>
          <a:ln>
            <a:noFill/>
          </a:ln>
        </p:spPr>
      </p:pic>
      <p:sp>
        <p:nvSpPr>
          <p:cNvPr id="3" name="TextBox 2">
            <a:extLst>
              <a:ext uri="{FF2B5EF4-FFF2-40B4-BE49-F238E27FC236}">
                <a16:creationId xmlns:a16="http://schemas.microsoft.com/office/drawing/2014/main" id="{D6F81643-6166-2756-4D82-19ACF5C44E5B}"/>
              </a:ext>
            </a:extLst>
          </p:cNvPr>
          <p:cNvSpPr txBox="1"/>
          <p:nvPr/>
        </p:nvSpPr>
        <p:spPr>
          <a:xfrm>
            <a:off x="1641987" y="2526890"/>
            <a:ext cx="7875639" cy="1107996"/>
          </a:xfrm>
          <a:prstGeom prst="rect">
            <a:avLst/>
          </a:prstGeom>
          <a:noFill/>
        </p:spPr>
        <p:txBody>
          <a:bodyPr wrap="square" rtlCol="0">
            <a:spAutoFit/>
          </a:bodyPr>
          <a:lstStyle/>
          <a:p>
            <a:pPr algn="ctr"/>
            <a:r>
              <a:rPr lang="en-US" sz="4800" b="1" dirty="0">
                <a:latin typeface="Times New Roman" panose="02020603050405020304" pitchFamily="18" charset="0"/>
                <a:cs typeface="Times New Roman" panose="02020603050405020304" pitchFamily="18" charset="0"/>
              </a:rPr>
              <a:t>  </a:t>
            </a:r>
            <a:r>
              <a:rPr lang="en-US" sz="66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41130688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TotalTime>
  <Words>846</Words>
  <Application>Microsoft Office PowerPoint</Application>
  <PresentationFormat>Widescreen</PresentationFormat>
  <Paragraphs>85</Paragraphs>
  <Slides>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Vishnu Priya Kodali</dc:creator>
  <cp:lastModifiedBy>Vishnu Priya Kodali</cp:lastModifiedBy>
  <cp:revision>7</cp:revision>
  <dcterms:created xsi:type="dcterms:W3CDTF">2026-09-09T08:50:50Z</dcterms:created>
  <dcterms:modified xsi:type="dcterms:W3CDTF">2026-09-15T13:27:26Z</dcterms:modified>
</cp:coreProperties>
</file>